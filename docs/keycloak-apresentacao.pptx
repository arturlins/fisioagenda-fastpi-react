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17000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0464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Boa tarde, pessoal. Hoje eu trouxe um conteúdo extra pra vocês: o Keycloak. É uma ferramenta que resolve um problema que todo sistema, cedo ou tarde, enfrenta: como saber quem está do outro lado, e o que essa pessoa pode fazer. Ao longo dos próximos minutos, vamos ver o que ele é, como funciona por baixo dos panos, e onde ele realmente faz diferença — tanto em microsserviços quanto em sistemas monolíticos mais tradicionais.</a:t>
            </a:r>
            <a:endParaRPr/>
          </a:p>
        </p:txBody>
      </p:sp>
      <p:sp>
        <p:nvSpPr>
          <p:cNvPr id="1873982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4559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60271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 roteiro é esse aqui. Primeiro vamos falar do problema que a gente está tentando resolver — por que autenticação vira dor de cabeça. Depois, o que é o Keycloak e o que ele já entrega pronto. Em seguida, como ele funciona, de forma bem simplificada. Daí entramos no ponto mais interessante pra quem estuda arquitetura de sistemas: as vantagens dele em microsserviços, e depois como ele se encaixa — ou não — em um monolito. Fechamos com uma síntese rápida.</a:t>
            </a:r>
            <a:endParaRPr/>
          </a:p>
        </p:txBody>
      </p:sp>
      <p:sp>
        <p:nvSpPr>
          <p:cNvPr id="1071293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21851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07422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Pensa em qualquer empresa de médio porte. Ela não tem um sistema, tem vários: o ERP, o site institucional, o aplicativo do cliente, o painel interno da equipe de suporte. E cada um desses sistemas, historicamente, resolve autenticação do seu próprio jeito. Cada um guarda senha, cada um implementa recuperação de senha, cada um decide como validar e-mail, cada um cuida de segundo fator sozinho. O resultado é óbvio: retrabalho, qualidade inconsistente — porque nem toda equipe é especialista em segurança — e uma pergunta que ninguém consegue responder rápido: se um funcionário sai da empresa hoje, o acesso dele foi realmente cortado em todos os sistemas? Essa é a dor que o Keycloak nasce pra resolver.</a:t>
            </a:r>
            <a:endParaRPr/>
          </a:p>
        </p:txBody>
      </p:sp>
      <p:sp>
        <p:nvSpPr>
          <p:cNvPr id="1321453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83095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3297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Keycloak é uma ferramenta de código aberto para gestão de identidade e acesso — o que a comunidade chama de IAM. Na prática, ele centraliza login, senha, permissões e várias outras funções relacionadas a quem é você e o que você pode fazer. É gratuito, licenciado como Apache 2.0, e hoje é um projeto da CNCF — a mesma fundação que cuida do Kubernetes, o que dá uma ideia do tamanho da comunidade por trás dele. Empresas grandes e até órgãos públicos usam Keycloak como peça central da infraestrutura de segurança.</a:t>
            </a:r>
            <a:endParaRPr/>
          </a:p>
        </p:txBody>
      </p:sp>
      <p:sp>
        <p:nvSpPr>
          <p:cNvPr id="16271589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61241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62979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 o que ele entrega pronto, sem vocês precisarem programar do zero? Primeiro, o SSO, Single Sign-On: um único login abre várias aplicações. Segundo, autenticação multifator, o famoso segundo fator, com várias opções, de código por aplicativo até chave física. Terceiro, login social: entrar com Google, Microsoft, GitHub, sem reescrever nada. Quarto, gestão de papéis e permissões, pra decidir quem pode fazer o quê. Quinto, toda a jornada de recuperação de senha e verificação de e-mail. E por fim, um painel administrativo completo, com API própria, pra gerenciar tudo isso sem tocar em código.</a:t>
            </a:r>
            <a:endParaRPr/>
          </a:p>
        </p:txBody>
      </p:sp>
      <p:sp>
        <p:nvSpPr>
          <p:cNvPr id="1322799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26446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66224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Vamos simplificar como isso funciona na prática, em quatro passos. Primeiro, o usuário tenta entrar em uma aplicação qualquer. Segundo, em vez de pedir usuário e senha ali mesmo, a aplicação redireciona esse usuário para o Keycloak — é o Keycloak quem vai cuidar do login, não a aplicação. Terceiro, o usuário se autentica no Keycloak, que confere as credenciais e devolve um token — pensem nele como um crachá digital assinado, difícil de falsificar. Quarto, a aplicação recebe esse token, confia nele, e libera o acesso. O ponto-chave aqui é que a aplicação nunca vê a senha do usuário. Ela só aprende a confiar em um crachá emitido por outro lugar.</a:t>
            </a:r>
            <a:endParaRPr/>
          </a:p>
        </p:txBody>
      </p:sp>
      <p:sp>
        <p:nvSpPr>
          <p:cNvPr id="71658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17790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85218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Agora, pensem em uma arquitetura de microsserviços. Em vez de um sistema só, vocês têm dezenas de serviços pequenos, cada um responsável por uma parte do negócio: pedidos, pagamento, notificação, catálogo. Sem uma identidade centralizada, cada um desses serviços teria que reimplementar login, validar senha, saber quem é quem — e pior, teria que confiar de alguma forma nos outros serviços. Isso multiplica exatamente o problema que vimos no início, só que agora em uma escala muito maior. É exatamente esse cenário que fez ferramentas como o Keycloak se tornarem praticamente padrão em arquiteturas modernas.</a:t>
            </a:r>
            <a:endParaRPr/>
          </a:p>
        </p:txBody>
      </p:sp>
      <p:sp>
        <p:nvSpPr>
          <p:cNvPr id="325749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72188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72064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 por que o Keycloak encaixa tão bem em microsserviços? Primeiro ponto: o token que ele emite é autocontido. Isso significa que cada serviço consegue validar sozinho, sem precisar perguntar ao Keycloak a cada requisição — o que é ótimo pra performance e pra escalabilidade. Segundo: como não existe sessão compartilhada em banco, escalar de dois pra duzentos serviços não muda nada na forma como a autenticação funciona — é tudo sem estado. Terceiro: existe um único ponto de confiança. Se eu preciso revogar o acesso de alguém, ou mudar uma permissão, eu faço isso em um lugar só, e o efeito se propaga pra todos os serviços. E quarto: como tudo segue protocolos abertos, um serviço em Java consegue confiar perfeitamente em um token validado por um serviço em Python, por exemplo — a linguagem deixa de importar.</a:t>
            </a:r>
            <a:endParaRPr/>
          </a:p>
        </p:txBody>
      </p:sp>
      <p:sp>
        <p:nvSpPr>
          <p:cNvPr id="221212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4516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47223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 vale a pena usar Keycloak em um monolito, num sistema só? A resposta curta é sim, e o motivo principal não é escala, é organização. Num monolito tradicional, a autenticação normalmente está espalhada pelo próprio código de negócio — senha, sessão e regra de acesso, tudo misturado. Com o Keycloak, essa camada é isolada: o sistema de login vira uma peça separada, com responsabilidade única. Isso significa MFA e SSO sem desenvolver do zero, e — o mais importante pra quem pensa em crescimento — se esse monolito um dia precisar virar microsserviços, a parte mais difícil de resolver, que é identidade, já está pronta.</a:t>
            </a:r>
            <a:endParaRPr/>
          </a:p>
        </p:txBody>
      </p:sp>
      <p:sp>
        <p:nvSpPr>
          <p:cNvPr id="940575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89491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74261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Como essa adoção costuma acontecer na prática? Primeiro passo: mapear como o login funciona hoje — quantos usuários, quais regras, onde estão os dados. Segundo: migrar esses usuários e seus papéis para dentro do Keycloak. Terceiro: trocar a autenticação interna do sistema por um protocolo aberto e padronizado, no lugar de manter aquela lógica caseira. E quarto: com isso pronto, o terreno já fica preparado pra, no futuro, se fizer sentido, começar a quebrar esse monolito em serviços menores — sem precisar resolver identidade de novo, porque essa parte já está resolvida desde o início.</a:t>
            </a:r>
            <a:endParaRPr/>
          </a:p>
        </p:txBody>
      </p:sp>
      <p:sp>
        <p:nvSpPr>
          <p:cNvPr id="2041060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37720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92878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Mas nem tudo são flores, e vale ser honesto sobre isso. Faz sentido usar Keycloak quando existem várias aplicações compartilhando usuários, quando existe exigência de auditoria ou conformidade, e quando a equipe tem capacidade de operar mais uma peça de infraestrutura — porque, sim, o Keycloak também precisa ser mantido e atualizado. Agora, pensem duas vezes quando o projeto é pequeno, com um único sistema e sem previsão de crescer, quando a equipe já está sobrecarregada e não tem tempo pra cuidar de mais um serviço rodando, ou quando o prazo é curto demais pra pagar essa curva de aprendizado inicial.</a:t>
            </a:r>
            <a:endParaRPr/>
          </a:p>
        </p:txBody>
      </p:sp>
      <p:sp>
        <p:nvSpPr>
          <p:cNvPr id="668490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65720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34886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Pra fechar, três ideias pra levar dessa aula. Primeira: um login resolve o acesso a várias aplicações, não só uma. Segunda: identidade separada do código de negócio é uma decisão de arquitetura, não só de segurança — ela facilita manutenção e evolução do sistema. E terceira: o mesmo protocolo funciona tanto num monolito quanto numa arquitetura de microsserviços, então adotar isso cedo não é desperdício, é investimento que se paga depois, se o sistema crescer.</a:t>
            </a:r>
            <a:endParaRPr/>
          </a:p>
        </p:txBody>
      </p:sp>
      <p:sp>
        <p:nvSpPr>
          <p:cNvPr id="1620158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31352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790232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É isso, pessoal. Fica o convite pra explorarem o Keycloak com calma — é possível rodar localmente em minutos, só com Docker, pra ver esse fluxo de login na prática. Abro espaço agora pra perguntas.</a:t>
            </a:r>
            <a:endParaRPr/>
          </a:p>
        </p:txBody>
      </p:sp>
      <p:sp>
        <p:nvSpPr>
          <p:cNvPr id="1157622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780415" name="Text 2"/>
          <p:cNvSpPr txBox="1"/>
          <p:nvPr/>
        </p:nvSpPr>
        <p:spPr bwMode="auto">
          <a:xfrm>
            <a:off x="731520" y="23317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Keycloak</a:t>
            </a:r>
            <a:endParaRPr lang="en-US" sz="5400"/>
          </a:p>
        </p:txBody>
      </p:sp>
      <p:sp>
        <p:nvSpPr>
          <p:cNvPr id="586007075" name="Text 3"/>
          <p:cNvSpPr txBox="1"/>
          <p:nvPr/>
        </p:nvSpPr>
        <p:spPr bwMode="auto">
          <a:xfrm>
            <a:off x="73152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200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Ferramenta de gestão de identidade e acesso</a:t>
            </a:r>
            <a:endParaRPr lang="pt-BR" sz="2000"/>
          </a:p>
        </p:txBody>
      </p:sp>
      <p:sp>
        <p:nvSpPr>
          <p:cNvPr id="1337682125" name="Shape 4"/>
          <p:cNvSpPr/>
          <p:nvPr/>
        </p:nvSpPr>
        <p:spPr bwMode="auto">
          <a:xfrm>
            <a:off x="731520" y="4160519"/>
            <a:ext cx="1005840" cy="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grpSp>
        <p:nvGrpSpPr>
          <p:cNvPr id="1923038780" name="Agrupar 9"/>
          <p:cNvGrpSpPr/>
          <p:nvPr/>
        </p:nvGrpSpPr>
        <p:grpSpPr bwMode="auto">
          <a:xfrm>
            <a:off x="6742030" y="1397574"/>
            <a:ext cx="4062851" cy="4062851"/>
            <a:chOff x="8732520" y="1417320"/>
            <a:chExt cx="3017519" cy="3017519"/>
          </a:xfrm>
        </p:grpSpPr>
        <p:sp>
          <p:nvSpPr>
            <p:cNvPr id="2" name="Shape 0"/>
            <p:cNvSpPr/>
            <p:nvPr/>
          </p:nvSpPr>
          <p:spPr bwMode="auto">
            <a:xfrm>
              <a:off x="8732520" y="1417320"/>
              <a:ext cx="3017519" cy="3017519"/>
            </a:xfrm>
            <a:prstGeom prst="ellipse">
              <a:avLst/>
            </a:prstGeom>
            <a:solidFill>
              <a:srgbClr val="13172C"/>
            </a:solidFill>
            <a:ln w="15875">
              <a:solidFill>
                <a:srgbClr val="3D5A80"/>
              </a:solidFill>
              <a:prstDash val="solid"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pic>
          <p:nvPicPr>
            <p:cNvPr id="9" name="Gráfico 8" descr="Keycloak"/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 bwMode="auto">
            <a:xfrm>
              <a:off x="9091612" y="1901366"/>
              <a:ext cx="2296277" cy="207627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897237" name="Text 0"/>
          <p:cNvSpPr txBox="1"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ROTEIRO</a:t>
            </a:r>
            <a:endParaRPr lang="en-US" sz="1200"/>
          </a:p>
        </p:txBody>
      </p:sp>
      <p:sp>
        <p:nvSpPr>
          <p:cNvPr id="1456716960" name="Text 1"/>
          <p:cNvSpPr txBox="1"/>
          <p:nvPr/>
        </p:nvSpPr>
        <p:spPr bwMode="auto"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O que vamos ver hoje</a:t>
            </a:r>
            <a:endParaRPr lang="en-US" sz="3200"/>
          </a:p>
        </p:txBody>
      </p:sp>
      <p:sp>
        <p:nvSpPr>
          <p:cNvPr id="1902295229" name="Shape 2"/>
          <p:cNvSpPr/>
          <p:nvPr/>
        </p:nvSpPr>
        <p:spPr bwMode="auto">
          <a:xfrm>
            <a:off x="685800" y="160020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10832286" name="Text 3"/>
          <p:cNvSpPr txBox="1"/>
          <p:nvPr/>
        </p:nvSpPr>
        <p:spPr bwMode="auto"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800"/>
          </a:p>
        </p:txBody>
      </p:sp>
      <p:sp>
        <p:nvSpPr>
          <p:cNvPr id="417591188" name="Text 4"/>
          <p:cNvSpPr txBox="1"/>
          <p:nvPr/>
        </p:nvSpPr>
        <p:spPr bwMode="auto">
          <a:xfrm>
            <a:off x="1268219" y="155473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O problema que a </a:t>
            </a:r>
            <a:r>
              <a:rPr lang="pt-BR" sz="15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identidade</a:t>
            </a:r>
            <a:r>
              <a:rPr lang="pt-BR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 resolve</a:t>
            </a:r>
            <a:endParaRPr lang="pt-BR" sz="1500"/>
          </a:p>
        </p:txBody>
      </p:sp>
      <p:sp>
        <p:nvSpPr>
          <p:cNvPr id="145433341" name="Text 5"/>
          <p:cNvSpPr txBox="1"/>
          <p:nvPr/>
        </p:nvSpPr>
        <p:spPr bwMode="auto">
          <a:xfrm>
            <a:off x="1268219" y="17505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Por que cada sistema cuidar do próprio login não escala.</a:t>
            </a:r>
            <a:endParaRPr lang="en-US" sz="1150"/>
          </a:p>
        </p:txBody>
      </p:sp>
      <p:sp>
        <p:nvSpPr>
          <p:cNvPr id="181397456" name="Shape 6"/>
          <p:cNvSpPr/>
          <p:nvPr/>
        </p:nvSpPr>
        <p:spPr bwMode="auto">
          <a:xfrm>
            <a:off x="685800" y="237744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096508213" name="Text 7"/>
          <p:cNvSpPr txBox="1"/>
          <p:nvPr/>
        </p:nvSpPr>
        <p:spPr bwMode="auto">
          <a:xfrm>
            <a:off x="685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800"/>
          </a:p>
        </p:txBody>
      </p:sp>
      <p:sp>
        <p:nvSpPr>
          <p:cNvPr id="405472076" name="Text 8"/>
          <p:cNvSpPr txBox="1"/>
          <p:nvPr/>
        </p:nvSpPr>
        <p:spPr bwMode="auto">
          <a:xfrm>
            <a:off x="1268219" y="2331973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O que é o Keycloak</a:t>
            </a:r>
            <a:endParaRPr lang="en-US" sz="1500"/>
          </a:p>
        </p:txBody>
      </p:sp>
      <p:sp>
        <p:nvSpPr>
          <p:cNvPr id="760781953" name="Text 9"/>
          <p:cNvSpPr txBox="1"/>
          <p:nvPr/>
        </p:nvSpPr>
        <p:spPr bwMode="auto">
          <a:xfrm>
            <a:off x="1268219" y="25278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Definição, origem e o que ele entrega pronto.</a:t>
            </a:r>
            <a:endParaRPr lang="en-US" sz="1150"/>
          </a:p>
        </p:txBody>
      </p:sp>
      <p:sp>
        <p:nvSpPr>
          <p:cNvPr id="1791317506" name="Shape 10"/>
          <p:cNvSpPr/>
          <p:nvPr/>
        </p:nvSpPr>
        <p:spPr bwMode="auto">
          <a:xfrm>
            <a:off x="685800" y="315468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77954974" name="Text 11"/>
          <p:cNvSpPr txBox="1"/>
          <p:nvPr/>
        </p:nvSpPr>
        <p:spPr bwMode="auto">
          <a:xfrm>
            <a:off x="685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800"/>
          </a:p>
        </p:txBody>
      </p:sp>
      <p:sp>
        <p:nvSpPr>
          <p:cNvPr id="175643284" name="Text 12"/>
          <p:cNvSpPr txBox="1"/>
          <p:nvPr/>
        </p:nvSpPr>
        <p:spPr bwMode="auto">
          <a:xfrm>
            <a:off x="1268219" y="310921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Como ele funciona</a:t>
            </a:r>
            <a:endParaRPr lang="en-US" sz="1500"/>
          </a:p>
        </p:txBody>
      </p:sp>
      <p:sp>
        <p:nvSpPr>
          <p:cNvPr id="1873477697" name="Text 13"/>
          <p:cNvSpPr txBox="1"/>
          <p:nvPr/>
        </p:nvSpPr>
        <p:spPr bwMode="auto">
          <a:xfrm>
            <a:off x="1268219" y="33050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O caminho de um login, em 4 passos simples.</a:t>
            </a:r>
            <a:endParaRPr lang="en-US" sz="1150"/>
          </a:p>
        </p:txBody>
      </p:sp>
      <p:sp>
        <p:nvSpPr>
          <p:cNvPr id="1190351252" name="Shape 14"/>
          <p:cNvSpPr/>
          <p:nvPr/>
        </p:nvSpPr>
        <p:spPr bwMode="auto">
          <a:xfrm>
            <a:off x="685800" y="393192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68700069" name="Text 15"/>
          <p:cNvSpPr txBox="1"/>
          <p:nvPr/>
        </p:nvSpPr>
        <p:spPr bwMode="auto">
          <a:xfrm>
            <a:off x="6858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800"/>
          </a:p>
        </p:txBody>
      </p:sp>
      <p:sp>
        <p:nvSpPr>
          <p:cNvPr id="1479473047" name="Text 16"/>
          <p:cNvSpPr txBox="1"/>
          <p:nvPr/>
        </p:nvSpPr>
        <p:spPr bwMode="auto">
          <a:xfrm>
            <a:off x="1268219" y="388645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Vantagens em microsserviços</a:t>
            </a:r>
            <a:endParaRPr lang="en-US" sz="1500"/>
          </a:p>
        </p:txBody>
      </p:sp>
      <p:sp>
        <p:nvSpPr>
          <p:cNvPr id="62277772" name="Text 17"/>
          <p:cNvSpPr txBox="1"/>
          <p:nvPr/>
        </p:nvSpPr>
        <p:spPr bwMode="auto">
          <a:xfrm>
            <a:off x="1268219" y="40822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Por que virou quase padrão nessas arquiteturas.</a:t>
            </a:r>
            <a:endParaRPr lang="en-US" sz="1150"/>
          </a:p>
        </p:txBody>
      </p:sp>
      <p:sp>
        <p:nvSpPr>
          <p:cNvPr id="866574013" name="Shape 18"/>
          <p:cNvSpPr/>
          <p:nvPr/>
        </p:nvSpPr>
        <p:spPr bwMode="auto">
          <a:xfrm>
            <a:off x="685800" y="470916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962278063" name="Text 19"/>
          <p:cNvSpPr txBox="1"/>
          <p:nvPr/>
        </p:nvSpPr>
        <p:spPr bwMode="auto">
          <a:xfrm>
            <a:off x="6858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lang="en-US" sz="1800"/>
          </a:p>
        </p:txBody>
      </p:sp>
      <p:sp>
        <p:nvSpPr>
          <p:cNvPr id="29546985" name="Text 20"/>
          <p:cNvSpPr txBox="1"/>
          <p:nvPr/>
        </p:nvSpPr>
        <p:spPr bwMode="auto">
          <a:xfrm>
            <a:off x="1268219" y="466369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Adoção em monolitos</a:t>
            </a:r>
            <a:endParaRPr lang="en-US" sz="1500"/>
          </a:p>
        </p:txBody>
      </p:sp>
      <p:sp>
        <p:nvSpPr>
          <p:cNvPr id="933920618" name="Text 21"/>
          <p:cNvSpPr txBox="1"/>
          <p:nvPr/>
        </p:nvSpPr>
        <p:spPr bwMode="auto">
          <a:xfrm>
            <a:off x="1268219" y="48595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11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Análise sobre a utilidade da ferramenta num ambiente monolítico.</a:t>
            </a:r>
            <a:endParaRPr lang="pt-BR" sz="1150"/>
          </a:p>
        </p:txBody>
      </p:sp>
      <p:sp>
        <p:nvSpPr>
          <p:cNvPr id="149939552" name="Shape 22"/>
          <p:cNvSpPr/>
          <p:nvPr/>
        </p:nvSpPr>
        <p:spPr bwMode="auto">
          <a:xfrm>
            <a:off x="685800" y="548640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62132065" name="Text 23"/>
          <p:cNvSpPr txBox="1"/>
          <p:nvPr/>
        </p:nvSpPr>
        <p:spPr bwMode="auto">
          <a:xfrm>
            <a:off x="68580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lang="en-US" sz="1800"/>
          </a:p>
        </p:txBody>
      </p:sp>
      <p:sp>
        <p:nvSpPr>
          <p:cNvPr id="109357338" name="Text 24"/>
          <p:cNvSpPr txBox="1"/>
          <p:nvPr/>
        </p:nvSpPr>
        <p:spPr bwMode="auto">
          <a:xfrm>
            <a:off x="1268219" y="544093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Síntese e quando (não) usar</a:t>
            </a:r>
            <a:endParaRPr lang="en-US" sz="1500"/>
          </a:p>
        </p:txBody>
      </p:sp>
      <p:sp>
        <p:nvSpPr>
          <p:cNvPr id="1283107850" name="Text 25"/>
          <p:cNvSpPr txBox="1"/>
          <p:nvPr/>
        </p:nvSpPr>
        <p:spPr bwMode="auto">
          <a:xfrm>
            <a:off x="1268219" y="56367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Uma visão honesta, com prós e contras.</a:t>
            </a:r>
            <a:endParaRPr lang="en-US" sz="1150"/>
          </a:p>
        </p:txBody>
      </p:sp>
      <p:grpSp>
        <p:nvGrpSpPr>
          <p:cNvPr id="2106636221" name="Agrupar 32"/>
          <p:cNvGrpSpPr/>
          <p:nvPr/>
        </p:nvGrpSpPr>
        <p:grpSpPr bwMode="auto">
          <a:xfrm>
            <a:off x="7174992" y="1518158"/>
            <a:ext cx="3785108" cy="3785108"/>
            <a:chOff x="9182100" y="1993900"/>
            <a:chExt cx="1308100" cy="1308100"/>
          </a:xfrm>
        </p:grpSpPr>
        <p:sp>
          <p:nvSpPr>
            <p:cNvPr id="28" name="Shape 26"/>
            <p:cNvSpPr/>
            <p:nvPr/>
          </p:nvSpPr>
          <p:spPr bwMode="auto">
            <a:xfrm>
              <a:off x="9182100" y="1993900"/>
              <a:ext cx="1308100" cy="1308100"/>
            </a:xfrm>
            <a:prstGeom prst="rect">
              <a:avLst/>
            </a:prstGeom>
            <a:solidFill>
              <a:srgbClr val="EEF1F8"/>
            </a:solidFill>
            <a:ln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pic>
          <p:nvPicPr>
            <p:cNvPr id="29" name="Image 0" descr="/home/claude/keycloak-deck/icons/fingerprint_amber.png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9326880" y="2148840"/>
              <a:ext cx="1005840" cy="1005840"/>
            </a:xfrm>
            <a:prstGeom prst="rect">
              <a:avLst/>
            </a:prstGeom>
          </p:spPr>
        </p:pic>
      </p:grpSp>
      <p:sp>
        <p:nvSpPr>
          <p:cNvPr id="1748501348" name="Text 28"/>
          <p:cNvSpPr txBox="1"/>
          <p:nvPr/>
        </p:nvSpPr>
        <p:spPr bwMode="auto"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Keycloak · Conteúdo extra · Sistemas de Informação</a:t>
            </a:r>
            <a:endParaRPr lang="en-US" sz="900"/>
          </a:p>
        </p:txBody>
      </p:sp>
      <p:sp>
        <p:nvSpPr>
          <p:cNvPr id="1286100445" name="Text 29"/>
          <p:cNvSpPr txBox="1"/>
          <p:nvPr/>
        </p:nvSpPr>
        <p:spPr bwMode="auto"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641061" name="Text 0"/>
          <p:cNvSpPr txBox="1"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O PROBLEMA</a:t>
            </a:r>
            <a:endParaRPr lang="en-US" sz="1200"/>
          </a:p>
        </p:txBody>
      </p:sp>
      <p:sp>
        <p:nvSpPr>
          <p:cNvPr id="911925307" name="Text 1"/>
          <p:cNvSpPr txBox="1"/>
          <p:nvPr/>
        </p:nvSpPr>
        <p:spPr bwMode="auto"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Cada sistema, seu próprio login</a:t>
            </a:r>
            <a:endParaRPr lang="en-US" sz="3200"/>
          </a:p>
        </p:txBody>
      </p:sp>
      <p:sp>
        <p:nvSpPr>
          <p:cNvPr id="2137528195" name="Shape 2"/>
          <p:cNvSpPr/>
          <p:nvPr/>
        </p:nvSpPr>
        <p:spPr bwMode="auto">
          <a:xfrm>
            <a:off x="950976" y="17373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345820164" name="Image 0" descr="/home/claude/keycloak-deck/icons/monitor_navy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05940" y="1993392"/>
            <a:ext cx="621792" cy="621792"/>
          </a:xfrm>
          <a:prstGeom prst="rect">
            <a:avLst/>
          </a:prstGeom>
        </p:spPr>
      </p:pic>
      <p:sp>
        <p:nvSpPr>
          <p:cNvPr id="691886156" name="Text 3"/>
          <p:cNvSpPr txBox="1"/>
          <p:nvPr/>
        </p:nvSpPr>
        <p:spPr bwMode="auto">
          <a:xfrm>
            <a:off x="1042416" y="26700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Painel interno</a:t>
            </a:r>
            <a:endParaRPr lang="en-US" sz="1200"/>
          </a:p>
        </p:txBody>
      </p:sp>
      <p:pic>
        <p:nvPicPr>
          <p:cNvPr id="114500763" name="Image 1" descr="/home/claude/keycloak-deck/icons/lock_amber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970532" y="3035808"/>
            <a:ext cx="292608" cy="292608"/>
          </a:xfrm>
          <a:prstGeom prst="rect">
            <a:avLst/>
          </a:prstGeom>
        </p:spPr>
      </p:pic>
      <p:sp>
        <p:nvSpPr>
          <p:cNvPr id="2072929679" name="Shape 4"/>
          <p:cNvSpPr/>
          <p:nvPr/>
        </p:nvSpPr>
        <p:spPr bwMode="auto">
          <a:xfrm>
            <a:off x="3602735" y="17373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073261045" name="Image 2" descr="/home/claude/keycloak-deck/icons/smartphone_navy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457700" y="1993392"/>
            <a:ext cx="621792" cy="621792"/>
          </a:xfrm>
          <a:prstGeom prst="rect">
            <a:avLst/>
          </a:prstGeom>
        </p:spPr>
      </p:pic>
      <p:sp>
        <p:nvSpPr>
          <p:cNvPr id="1093397270" name="Text 5"/>
          <p:cNvSpPr txBox="1"/>
          <p:nvPr/>
        </p:nvSpPr>
        <p:spPr bwMode="auto">
          <a:xfrm>
            <a:off x="3694176" y="26700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App do cliente</a:t>
            </a:r>
            <a:endParaRPr lang="en-US" sz="1200"/>
          </a:p>
        </p:txBody>
      </p:sp>
      <p:pic>
        <p:nvPicPr>
          <p:cNvPr id="484031108" name="Image 3" descr="/home/claude/keycloak-deck/icons/lock_amber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22292" y="3035808"/>
            <a:ext cx="292608" cy="292608"/>
          </a:xfrm>
          <a:prstGeom prst="rect">
            <a:avLst/>
          </a:prstGeom>
        </p:spPr>
      </p:pic>
      <p:sp>
        <p:nvSpPr>
          <p:cNvPr id="210196162" name="Shape 6"/>
          <p:cNvSpPr/>
          <p:nvPr/>
        </p:nvSpPr>
        <p:spPr bwMode="auto">
          <a:xfrm>
            <a:off x="6254496" y="17373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489682995" name="Image 4" descr="/home/claude/keycloak-deck/icons/server_navy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109460" y="1993392"/>
            <a:ext cx="621792" cy="621792"/>
          </a:xfrm>
          <a:prstGeom prst="rect">
            <a:avLst/>
          </a:prstGeom>
        </p:spPr>
      </p:pic>
      <p:sp>
        <p:nvSpPr>
          <p:cNvPr id="1877947025" name="Text 7"/>
          <p:cNvSpPr txBox="1"/>
          <p:nvPr/>
        </p:nvSpPr>
        <p:spPr bwMode="auto">
          <a:xfrm>
            <a:off x="6345936" y="26700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ERP</a:t>
            </a:r>
            <a:endParaRPr lang="en-US" sz="1200"/>
          </a:p>
        </p:txBody>
      </p:sp>
      <p:pic>
        <p:nvPicPr>
          <p:cNvPr id="2086629039" name="Image 5" descr="/home/claude/keycloak-deck/icons/lock_amber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274052" y="3035808"/>
            <a:ext cx="292608" cy="292608"/>
          </a:xfrm>
          <a:prstGeom prst="rect">
            <a:avLst/>
          </a:prstGeom>
        </p:spPr>
      </p:pic>
      <p:sp>
        <p:nvSpPr>
          <p:cNvPr id="1784011118" name="Shape 8"/>
          <p:cNvSpPr/>
          <p:nvPr/>
        </p:nvSpPr>
        <p:spPr bwMode="auto">
          <a:xfrm>
            <a:off x="8906256" y="17373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831014260" name="Image 6" descr="/home/claude/keycloak-deck/icons/globe_navy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761220" y="1993392"/>
            <a:ext cx="621792" cy="621792"/>
          </a:xfrm>
          <a:prstGeom prst="rect">
            <a:avLst/>
          </a:prstGeom>
        </p:spPr>
      </p:pic>
      <p:sp>
        <p:nvSpPr>
          <p:cNvPr id="1145534080" name="Text 9"/>
          <p:cNvSpPr txBox="1"/>
          <p:nvPr/>
        </p:nvSpPr>
        <p:spPr bwMode="auto">
          <a:xfrm>
            <a:off x="8997696" y="26700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Site institucional</a:t>
            </a:r>
            <a:endParaRPr lang="en-US" sz="1200"/>
          </a:p>
        </p:txBody>
      </p:sp>
      <p:pic>
        <p:nvPicPr>
          <p:cNvPr id="959600381" name="Image 7" descr="/home/claude/keycloak-deck/icons/lock_amber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925812" y="3035808"/>
            <a:ext cx="292608" cy="292608"/>
          </a:xfrm>
          <a:prstGeom prst="rect">
            <a:avLst/>
          </a:prstGeom>
        </p:spPr>
      </p:pic>
      <p:sp>
        <p:nvSpPr>
          <p:cNvPr id="1995372687" name="Text 10"/>
          <p:cNvSpPr txBox="1"/>
          <p:nvPr/>
        </p:nvSpPr>
        <p:spPr bwMode="auto">
          <a:xfrm>
            <a:off x="640080" y="3794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3D5A80"/>
                </a:solidFill>
                <a:latin typeface="Calibri"/>
                <a:ea typeface="Calibri"/>
                <a:cs typeface="Calibri"/>
              </a:rPr>
              <a:t>Login próprio · senha própria · recuperação própria · MFA (ou não) próprio</a:t>
            </a:r>
            <a:endParaRPr lang="en-US" sz="1300"/>
          </a:p>
        </p:txBody>
      </p:sp>
      <p:sp>
        <p:nvSpPr>
          <p:cNvPr id="993027224" name="Shape 11"/>
          <p:cNvSpPr/>
          <p:nvPr/>
        </p:nvSpPr>
        <p:spPr bwMode="auto">
          <a:xfrm>
            <a:off x="1463040" y="4434840"/>
            <a:ext cx="9262872" cy="123444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249647505" name="Text 12"/>
          <p:cNvSpPr txBox="1"/>
          <p:nvPr/>
        </p:nvSpPr>
        <p:spPr bwMode="auto">
          <a:xfrm>
            <a:off x="1828800" y="4434840"/>
            <a:ext cx="8531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“Se um funcionário sai hoje, o acesso dele foi cortado em todos os sistemas?”</a:t>
            </a:r>
            <a:endParaRPr lang="en-US" sz="1800"/>
          </a:p>
        </p:txBody>
      </p:sp>
      <p:sp>
        <p:nvSpPr>
          <p:cNvPr id="1138056829" name="Text 13"/>
          <p:cNvSpPr txBox="1"/>
          <p:nvPr/>
        </p:nvSpPr>
        <p:spPr bwMode="auto"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Keycloak · Conteúdo extra · Sistemas de Informação</a:t>
            </a:r>
            <a:endParaRPr lang="en-US" sz="900"/>
          </a:p>
        </p:txBody>
      </p:sp>
      <p:sp>
        <p:nvSpPr>
          <p:cNvPr id="458167682" name="Text 14"/>
          <p:cNvSpPr txBox="1"/>
          <p:nvPr/>
        </p:nvSpPr>
        <p:spPr bwMode="auto"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552693" name="Text 0"/>
          <p:cNvSpPr txBox="1"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DEFINIÇÃO</a:t>
            </a:r>
            <a:endParaRPr lang="en-US" sz="1200"/>
          </a:p>
        </p:txBody>
      </p:sp>
      <p:sp>
        <p:nvSpPr>
          <p:cNvPr id="124416652" name="Text 1"/>
          <p:cNvSpPr txBox="1"/>
          <p:nvPr/>
        </p:nvSpPr>
        <p:spPr bwMode="auto"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Um “porteiro” comum para todas as aplicações</a:t>
            </a:r>
            <a:endParaRPr lang="en-US" sz="3000"/>
          </a:p>
        </p:txBody>
      </p:sp>
      <p:sp>
        <p:nvSpPr>
          <p:cNvPr id="523198156" name="Shape 2"/>
          <p:cNvSpPr/>
          <p:nvPr/>
        </p:nvSpPr>
        <p:spPr bwMode="auto">
          <a:xfrm>
            <a:off x="868680" y="1965960"/>
            <a:ext cx="2834640" cy="2834640"/>
          </a:xfrm>
          <a:prstGeom prst="ellipse">
            <a:avLst/>
          </a:prstGeom>
          <a:solidFill>
            <a:srgbClr val="13172C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569627847" name="Image 0" descr="/home/claude/keycloak-deck/icons/key_amb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91640" y="2788920"/>
            <a:ext cx="1188720" cy="1188720"/>
          </a:xfrm>
          <a:prstGeom prst="rect">
            <a:avLst/>
          </a:prstGeom>
        </p:spPr>
      </p:pic>
      <p:sp>
        <p:nvSpPr>
          <p:cNvPr id="957980231" name="Text 3"/>
          <p:cNvSpPr txBox="1"/>
          <p:nvPr/>
        </p:nvSpPr>
        <p:spPr bwMode="auto">
          <a:xfrm>
            <a:off x="502920" y="4937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IAM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Identity and Access Management</a:t>
            </a:r>
            <a:endParaRPr lang="en-US" sz="1200"/>
          </a:p>
        </p:txBody>
      </p:sp>
      <p:sp>
        <p:nvSpPr>
          <p:cNvPr id="389493248" name="Shape 4"/>
          <p:cNvSpPr/>
          <p:nvPr/>
        </p:nvSpPr>
        <p:spPr bwMode="auto">
          <a:xfrm>
            <a:off x="4434840" y="1993392"/>
            <a:ext cx="201168" cy="20116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48130755" name="Text 5"/>
          <p:cNvSpPr txBox="1"/>
          <p:nvPr/>
        </p:nvSpPr>
        <p:spPr bwMode="auto">
          <a:xfrm>
            <a:off x="4718050" y="198145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Ferramenta de código aberto para gestão de identidade e acesso.</a:t>
            </a:r>
            <a:endParaRPr lang="en-US" sz="1450"/>
          </a:p>
        </p:txBody>
      </p:sp>
      <p:sp>
        <p:nvSpPr>
          <p:cNvPr id="252070381" name="Shape 6"/>
          <p:cNvSpPr/>
          <p:nvPr/>
        </p:nvSpPr>
        <p:spPr bwMode="auto">
          <a:xfrm>
            <a:off x="4434840" y="2779776"/>
            <a:ext cx="201168" cy="20116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669747411" name="Text 7"/>
          <p:cNvSpPr txBox="1"/>
          <p:nvPr/>
        </p:nvSpPr>
        <p:spPr bwMode="auto">
          <a:xfrm>
            <a:off x="4718050" y="2767076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Gratuita, licença Apache 2.0 — sem custo de licenciamento.</a:t>
            </a:r>
            <a:endParaRPr lang="en-US" sz="1450"/>
          </a:p>
        </p:txBody>
      </p:sp>
      <p:sp>
        <p:nvSpPr>
          <p:cNvPr id="308239962" name="Shape 8"/>
          <p:cNvSpPr/>
          <p:nvPr/>
        </p:nvSpPr>
        <p:spPr bwMode="auto">
          <a:xfrm>
            <a:off x="4434840" y="3566160"/>
            <a:ext cx="201168" cy="20116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4063665" name="Text 9"/>
          <p:cNvSpPr txBox="1"/>
          <p:nvPr/>
        </p:nvSpPr>
        <p:spPr bwMode="auto">
          <a:xfrm>
            <a:off x="4718050" y="356514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Projeto da CNCF — a mesma fundação que mantém o Kubernetes.</a:t>
            </a:r>
            <a:endParaRPr lang="en-US" sz="1450"/>
          </a:p>
        </p:txBody>
      </p:sp>
      <p:sp>
        <p:nvSpPr>
          <p:cNvPr id="578903353" name="Shape 10"/>
          <p:cNvSpPr/>
          <p:nvPr/>
        </p:nvSpPr>
        <p:spPr bwMode="auto">
          <a:xfrm>
            <a:off x="4434840" y="4352544"/>
            <a:ext cx="201168" cy="20116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752697665" name="Text 11"/>
          <p:cNvSpPr txBox="1"/>
          <p:nvPr/>
        </p:nvSpPr>
        <p:spPr bwMode="auto">
          <a:xfrm>
            <a:off x="4718050" y="4350766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Usada por empresas e órgãos públicos ao redor do mundo.</a:t>
            </a:r>
            <a:endParaRPr lang="en-US" sz="1450"/>
          </a:p>
        </p:txBody>
      </p:sp>
      <p:sp>
        <p:nvSpPr>
          <p:cNvPr id="1328840456" name="Text 12"/>
          <p:cNvSpPr txBox="1"/>
          <p:nvPr/>
        </p:nvSpPr>
        <p:spPr bwMode="auto"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90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Keycloak · Conteúdo extra · Sistemas de Informação</a:t>
            </a:r>
            <a:endParaRPr lang="en-US" sz="900"/>
          </a:p>
        </p:txBody>
      </p:sp>
      <p:sp>
        <p:nvSpPr>
          <p:cNvPr id="1916895665" name="Text 13"/>
          <p:cNvSpPr txBox="1"/>
          <p:nvPr/>
        </p:nvSpPr>
        <p:spPr bwMode="auto"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13376" name="Text 0"/>
          <p:cNvSpPr txBox="1"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CAPACIDADES</a:t>
            </a:r>
            <a:endParaRPr lang="en-US" sz="1200"/>
          </a:p>
        </p:txBody>
      </p:sp>
      <p:sp>
        <p:nvSpPr>
          <p:cNvPr id="1581257221" name="Text 1"/>
          <p:cNvSpPr txBox="1"/>
          <p:nvPr/>
        </p:nvSpPr>
        <p:spPr bwMode="auto"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O que ele resolve, pronto para usar</a:t>
            </a:r>
            <a:endParaRPr lang="en-US" sz="3200"/>
          </a:p>
        </p:txBody>
      </p:sp>
      <p:sp>
        <p:nvSpPr>
          <p:cNvPr id="902197229" name="Shape 2"/>
          <p:cNvSpPr/>
          <p:nvPr/>
        </p:nvSpPr>
        <p:spPr bwMode="auto">
          <a:xfrm>
            <a:off x="694944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95D178D-4143-1414-91BB-2AEF3C077B91}"/>
              </a:ext>
            </a:extLst>
          </p:cNvPr>
          <p:cNvGrpSpPr/>
          <p:nvPr/>
        </p:nvGrpSpPr>
        <p:grpSpPr>
          <a:xfrm>
            <a:off x="2132380" y="2161286"/>
            <a:ext cx="548640" cy="548640"/>
            <a:chOff x="950976" y="1947671"/>
            <a:chExt cx="548640" cy="548640"/>
          </a:xfrm>
        </p:grpSpPr>
        <p:sp>
          <p:nvSpPr>
            <p:cNvPr id="957273675" name="Shape 3"/>
            <p:cNvSpPr/>
            <p:nvPr/>
          </p:nvSpPr>
          <p:spPr bwMode="auto">
            <a:xfrm>
              <a:off x="950976" y="1947671"/>
              <a:ext cx="548640" cy="548640"/>
            </a:xfrm>
            <a:prstGeom prst="ellipse">
              <a:avLst/>
            </a:prstGeom>
            <a:solidFill>
              <a:srgbClr val="1B1F3B"/>
            </a:solidFill>
            <a:ln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pic>
          <p:nvPicPr>
            <p:cNvPr id="1195209492" name="Image 0" descr="/home/claude/keycloak-deck/icons/link_white.png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1071677" y="2068372"/>
              <a:ext cx="307238" cy="307238"/>
            </a:xfrm>
            <a:prstGeom prst="rect">
              <a:avLst/>
            </a:prstGeom>
          </p:spPr>
        </p:pic>
      </p:grpSp>
      <p:sp>
        <p:nvSpPr>
          <p:cNvPr id="1432374843" name="Text 4"/>
          <p:cNvSpPr txBox="1"/>
          <p:nvPr/>
        </p:nvSpPr>
        <p:spPr bwMode="auto">
          <a:xfrm>
            <a:off x="950976" y="271399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SSO</a:t>
            </a:r>
            <a:endParaRPr lang="en-US" sz="1400"/>
          </a:p>
        </p:txBody>
      </p:sp>
      <p:sp>
        <p:nvSpPr>
          <p:cNvPr id="1749366996" name="Text 5"/>
          <p:cNvSpPr txBox="1"/>
          <p:nvPr/>
        </p:nvSpPr>
        <p:spPr bwMode="auto">
          <a:xfrm>
            <a:off x="950976" y="279273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pt-BR" sz="1100" noProof="0" dirty="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Um único login abre várias aplicações.</a:t>
            </a:r>
            <a:endParaRPr lang="pt-BR" sz="1100" noProof="0" dirty="0"/>
          </a:p>
        </p:txBody>
      </p:sp>
      <p:sp>
        <p:nvSpPr>
          <p:cNvPr id="1911198464" name="Shape 6"/>
          <p:cNvSpPr/>
          <p:nvPr/>
        </p:nvSpPr>
        <p:spPr bwMode="auto">
          <a:xfrm>
            <a:off x="4379976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260F6918-5C83-83DB-D200-E0181674206C}"/>
              </a:ext>
            </a:extLst>
          </p:cNvPr>
          <p:cNvGrpSpPr/>
          <p:nvPr/>
        </p:nvGrpSpPr>
        <p:grpSpPr>
          <a:xfrm>
            <a:off x="5806440" y="2106421"/>
            <a:ext cx="548640" cy="548640"/>
            <a:chOff x="4636008" y="1947671"/>
            <a:chExt cx="548640" cy="548640"/>
          </a:xfrm>
        </p:grpSpPr>
        <p:sp>
          <p:nvSpPr>
            <p:cNvPr id="607474745" name="Shape 7"/>
            <p:cNvSpPr/>
            <p:nvPr/>
          </p:nvSpPr>
          <p:spPr bwMode="auto">
            <a:xfrm>
              <a:off x="4636008" y="1947671"/>
              <a:ext cx="548640" cy="548640"/>
            </a:xfrm>
            <a:prstGeom prst="ellipse">
              <a:avLst/>
            </a:prstGeom>
            <a:solidFill>
              <a:srgbClr val="1B1F3B"/>
            </a:solidFill>
            <a:ln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pic>
          <p:nvPicPr>
            <p:cNvPr id="585450389" name="Image 1" descr="/home/claude/keycloak-deck/icons/shield_white.png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4756709" y="2068372"/>
              <a:ext cx="307238" cy="307238"/>
            </a:xfrm>
            <a:prstGeom prst="rect">
              <a:avLst/>
            </a:prstGeom>
          </p:spPr>
        </p:pic>
      </p:grpSp>
      <p:sp>
        <p:nvSpPr>
          <p:cNvPr id="347075124" name="Text 8"/>
          <p:cNvSpPr txBox="1"/>
          <p:nvPr/>
        </p:nvSpPr>
        <p:spPr bwMode="auto">
          <a:xfrm>
            <a:off x="4636008" y="271399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MFA</a:t>
            </a:r>
            <a:endParaRPr lang="en-US" sz="1400" dirty="0"/>
          </a:p>
        </p:txBody>
      </p:sp>
      <p:sp>
        <p:nvSpPr>
          <p:cNvPr id="1233451266" name="Text 9"/>
          <p:cNvSpPr txBox="1"/>
          <p:nvPr/>
        </p:nvSpPr>
        <p:spPr bwMode="auto">
          <a:xfrm>
            <a:off x="4636008" y="279273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Segundo fator: app autenticador, chave física, biometria.</a:t>
            </a:r>
            <a:endParaRPr lang="en-US" sz="1100"/>
          </a:p>
        </p:txBody>
      </p:sp>
      <p:sp>
        <p:nvSpPr>
          <p:cNvPr id="786984886" name="Shape 10"/>
          <p:cNvSpPr/>
          <p:nvPr/>
        </p:nvSpPr>
        <p:spPr bwMode="auto">
          <a:xfrm>
            <a:off x="8065008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B604986-9D2B-BCA9-A578-A69391A1669C}"/>
              </a:ext>
            </a:extLst>
          </p:cNvPr>
          <p:cNvGrpSpPr/>
          <p:nvPr/>
        </p:nvGrpSpPr>
        <p:grpSpPr>
          <a:xfrm>
            <a:off x="9505188" y="2106421"/>
            <a:ext cx="548640" cy="548640"/>
            <a:chOff x="8321039" y="1947671"/>
            <a:chExt cx="548640" cy="548640"/>
          </a:xfrm>
        </p:grpSpPr>
        <p:sp>
          <p:nvSpPr>
            <p:cNvPr id="2055526944" name="Shape 11"/>
            <p:cNvSpPr/>
            <p:nvPr/>
          </p:nvSpPr>
          <p:spPr bwMode="auto">
            <a:xfrm>
              <a:off x="8321039" y="1947671"/>
              <a:ext cx="548640" cy="548640"/>
            </a:xfrm>
            <a:prstGeom prst="ellipse">
              <a:avLst/>
            </a:prstGeom>
            <a:solidFill>
              <a:srgbClr val="1B1F3B"/>
            </a:solidFill>
            <a:ln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pic>
          <p:nvPicPr>
            <p:cNvPr id="1022343905" name="Image 2" descr="/home/claude/keycloak-deck/icons/globe_white.png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>
              <a:off x="8441741" y="2068372"/>
              <a:ext cx="307238" cy="307238"/>
            </a:xfrm>
            <a:prstGeom prst="rect">
              <a:avLst/>
            </a:prstGeom>
          </p:spPr>
        </p:pic>
      </p:grpSp>
      <p:sp>
        <p:nvSpPr>
          <p:cNvPr id="98173025" name="Text 12"/>
          <p:cNvSpPr txBox="1"/>
          <p:nvPr/>
        </p:nvSpPr>
        <p:spPr bwMode="auto">
          <a:xfrm>
            <a:off x="8321039" y="271399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Login social</a:t>
            </a:r>
            <a:endParaRPr lang="en-US" sz="1400" dirty="0"/>
          </a:p>
        </p:txBody>
      </p:sp>
      <p:sp>
        <p:nvSpPr>
          <p:cNvPr id="503673894" name="Text 13"/>
          <p:cNvSpPr txBox="1"/>
          <p:nvPr/>
        </p:nvSpPr>
        <p:spPr bwMode="auto">
          <a:xfrm>
            <a:off x="8321039" y="279273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Entrar com Google, Microsoft, GitHub e outros.</a:t>
            </a:r>
            <a:endParaRPr lang="en-US" sz="1100"/>
          </a:p>
        </p:txBody>
      </p:sp>
      <p:sp>
        <p:nvSpPr>
          <p:cNvPr id="1526021637" name="Shape 14"/>
          <p:cNvSpPr/>
          <p:nvPr/>
        </p:nvSpPr>
        <p:spPr bwMode="auto">
          <a:xfrm>
            <a:off x="694944" y="3913632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718DCD1-71E3-76C5-464C-9CBF7067BE3C}"/>
              </a:ext>
            </a:extLst>
          </p:cNvPr>
          <p:cNvGrpSpPr/>
          <p:nvPr/>
        </p:nvGrpSpPr>
        <p:grpSpPr>
          <a:xfrm>
            <a:off x="2132380" y="4329176"/>
            <a:ext cx="548640" cy="548640"/>
            <a:chOff x="950976" y="4169664"/>
            <a:chExt cx="548640" cy="548640"/>
          </a:xfrm>
        </p:grpSpPr>
        <p:sp>
          <p:nvSpPr>
            <p:cNvPr id="98783466" name="Shape 15"/>
            <p:cNvSpPr/>
            <p:nvPr/>
          </p:nvSpPr>
          <p:spPr bwMode="auto">
            <a:xfrm>
              <a:off x="950976" y="4169664"/>
              <a:ext cx="548640" cy="548640"/>
            </a:xfrm>
            <a:prstGeom prst="ellipse">
              <a:avLst/>
            </a:prstGeom>
            <a:solidFill>
              <a:srgbClr val="3D5A80"/>
            </a:solidFill>
            <a:ln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pic>
          <p:nvPicPr>
            <p:cNvPr id="457103899" name="Image 3" descr="/home/claude/keycloak-deck/icons/users_white.png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>
              <a:off x="1071677" y="4290365"/>
              <a:ext cx="307238" cy="307238"/>
            </a:xfrm>
            <a:prstGeom prst="rect">
              <a:avLst/>
            </a:prstGeom>
          </p:spPr>
        </p:pic>
      </p:grpSp>
      <p:sp>
        <p:nvSpPr>
          <p:cNvPr id="1964066781" name="Text 16"/>
          <p:cNvSpPr txBox="1"/>
          <p:nvPr/>
        </p:nvSpPr>
        <p:spPr bwMode="auto">
          <a:xfrm>
            <a:off x="950976" y="493598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Papéis e permissões</a:t>
            </a:r>
            <a:endParaRPr lang="en-US" sz="1400"/>
          </a:p>
        </p:txBody>
      </p:sp>
      <p:sp>
        <p:nvSpPr>
          <p:cNvPr id="1190673775" name="Text 17"/>
          <p:cNvSpPr txBox="1"/>
          <p:nvPr/>
        </p:nvSpPr>
        <p:spPr bwMode="auto">
          <a:xfrm>
            <a:off x="950976" y="501472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Define quem pode fazer o quê em cada sistema.</a:t>
            </a:r>
            <a:endParaRPr lang="en-US" sz="1100"/>
          </a:p>
        </p:txBody>
      </p:sp>
      <p:sp>
        <p:nvSpPr>
          <p:cNvPr id="1715410448" name="Shape 18"/>
          <p:cNvSpPr/>
          <p:nvPr/>
        </p:nvSpPr>
        <p:spPr bwMode="auto">
          <a:xfrm>
            <a:off x="4379976" y="3913632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3AD3AEF-05AF-A844-E2D1-28F9D90D82D3}"/>
              </a:ext>
            </a:extLst>
          </p:cNvPr>
          <p:cNvGrpSpPr/>
          <p:nvPr/>
        </p:nvGrpSpPr>
        <p:grpSpPr>
          <a:xfrm>
            <a:off x="5820156" y="4323842"/>
            <a:ext cx="548640" cy="548640"/>
            <a:chOff x="4636008" y="4169664"/>
            <a:chExt cx="548640" cy="548640"/>
          </a:xfrm>
        </p:grpSpPr>
        <p:sp>
          <p:nvSpPr>
            <p:cNvPr id="949512533" name="Shape 19"/>
            <p:cNvSpPr/>
            <p:nvPr/>
          </p:nvSpPr>
          <p:spPr bwMode="auto">
            <a:xfrm>
              <a:off x="4636008" y="4169664"/>
              <a:ext cx="548640" cy="548640"/>
            </a:xfrm>
            <a:prstGeom prst="ellipse">
              <a:avLst/>
            </a:prstGeom>
            <a:solidFill>
              <a:srgbClr val="3D5A80"/>
            </a:solidFill>
            <a:ln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pic>
          <p:nvPicPr>
            <p:cNvPr id="2002897757" name="Image 4" descr="/home/claude/keycloak-deck/icons/rotate_white.png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>
              <a:off x="4756709" y="4290365"/>
              <a:ext cx="307238" cy="307238"/>
            </a:xfrm>
            <a:prstGeom prst="rect">
              <a:avLst/>
            </a:prstGeom>
          </p:spPr>
        </p:pic>
      </p:grpSp>
      <p:sp>
        <p:nvSpPr>
          <p:cNvPr id="414892021" name="Text 20"/>
          <p:cNvSpPr txBox="1"/>
          <p:nvPr/>
        </p:nvSpPr>
        <p:spPr bwMode="auto">
          <a:xfrm>
            <a:off x="4636008" y="493598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Recuperação de senha</a:t>
            </a:r>
            <a:endParaRPr lang="en-US" sz="1400"/>
          </a:p>
        </p:txBody>
      </p:sp>
      <p:sp>
        <p:nvSpPr>
          <p:cNvPr id="1926355652" name="Text 21"/>
          <p:cNvSpPr txBox="1"/>
          <p:nvPr/>
        </p:nvSpPr>
        <p:spPr bwMode="auto">
          <a:xfrm>
            <a:off x="4636008" y="501472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Fluxo completo, com verificação de e-mail.</a:t>
            </a:r>
            <a:endParaRPr lang="en-US" sz="1100"/>
          </a:p>
        </p:txBody>
      </p:sp>
      <p:sp>
        <p:nvSpPr>
          <p:cNvPr id="972754124" name="Shape 22"/>
          <p:cNvSpPr/>
          <p:nvPr/>
        </p:nvSpPr>
        <p:spPr bwMode="auto">
          <a:xfrm>
            <a:off x="8065008" y="3913632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FB214FE-2C25-9B32-2B2C-39A17C122B48}"/>
              </a:ext>
            </a:extLst>
          </p:cNvPr>
          <p:cNvGrpSpPr/>
          <p:nvPr/>
        </p:nvGrpSpPr>
        <p:grpSpPr>
          <a:xfrm>
            <a:off x="9505188" y="4323842"/>
            <a:ext cx="548640" cy="548640"/>
            <a:chOff x="8321039" y="4169664"/>
            <a:chExt cx="548640" cy="548640"/>
          </a:xfrm>
        </p:grpSpPr>
        <p:sp>
          <p:nvSpPr>
            <p:cNvPr id="1702141462" name="Shape 23"/>
            <p:cNvSpPr/>
            <p:nvPr/>
          </p:nvSpPr>
          <p:spPr bwMode="auto">
            <a:xfrm>
              <a:off x="8321039" y="4169664"/>
              <a:ext cx="548640" cy="548640"/>
            </a:xfrm>
            <a:prstGeom prst="ellipse">
              <a:avLst/>
            </a:prstGeom>
            <a:solidFill>
              <a:srgbClr val="3D5A80"/>
            </a:solidFill>
            <a:ln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pic>
          <p:nvPicPr>
            <p:cNvPr id="545053129" name="Image 5" descr="/home/claude/keycloak-deck/icons/dashboard_white.png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8441741" y="4290365"/>
              <a:ext cx="307238" cy="307238"/>
            </a:xfrm>
            <a:prstGeom prst="rect">
              <a:avLst/>
            </a:prstGeom>
          </p:spPr>
        </p:pic>
      </p:grpSp>
      <p:sp>
        <p:nvSpPr>
          <p:cNvPr id="1532587548" name="Text 24"/>
          <p:cNvSpPr txBox="1"/>
          <p:nvPr/>
        </p:nvSpPr>
        <p:spPr bwMode="auto">
          <a:xfrm>
            <a:off x="8321039" y="493598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 err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Painel</a:t>
            </a:r>
            <a:r>
              <a:rPr lang="en-US" sz="1400" b="1" dirty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dirty="0" err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administrativo</a:t>
            </a:r>
            <a:endParaRPr lang="en-US" sz="1400" dirty="0"/>
          </a:p>
        </p:txBody>
      </p:sp>
      <p:sp>
        <p:nvSpPr>
          <p:cNvPr id="1384725267" name="Text 25"/>
          <p:cNvSpPr txBox="1"/>
          <p:nvPr/>
        </p:nvSpPr>
        <p:spPr bwMode="auto">
          <a:xfrm>
            <a:off x="8321039" y="501472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pt-BR" sz="1100" noProof="0" dirty="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Console web e API própria para gerenciar tudo.</a:t>
            </a:r>
            <a:endParaRPr lang="pt-BR" sz="1100" noProof="0" dirty="0"/>
          </a:p>
        </p:txBody>
      </p:sp>
      <p:sp>
        <p:nvSpPr>
          <p:cNvPr id="1310166858" name="Text 26"/>
          <p:cNvSpPr txBox="1"/>
          <p:nvPr/>
        </p:nvSpPr>
        <p:spPr bwMode="auto"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Keycloak · Conteúdo extra · Sistemas de Informação</a:t>
            </a:r>
            <a:endParaRPr lang="en-US" sz="900"/>
          </a:p>
        </p:txBody>
      </p:sp>
      <p:sp>
        <p:nvSpPr>
          <p:cNvPr id="59208278" name="Text 27"/>
          <p:cNvSpPr txBox="1"/>
          <p:nvPr/>
        </p:nvSpPr>
        <p:spPr bwMode="auto"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473487" name="Text 0"/>
          <p:cNvSpPr txBox="1"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FUNCIONAMENTO</a:t>
            </a:r>
            <a:endParaRPr lang="en-US" sz="1200"/>
          </a:p>
        </p:txBody>
      </p:sp>
      <p:sp>
        <p:nvSpPr>
          <p:cNvPr id="1223043380" name="Text 1"/>
          <p:cNvSpPr txBox="1"/>
          <p:nvPr/>
        </p:nvSpPr>
        <p:spPr bwMode="auto"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Como funciona, em 4 passos</a:t>
            </a:r>
            <a:endParaRPr lang="en-US" sz="3200"/>
          </a:p>
        </p:txBody>
      </p:sp>
      <p:sp>
        <p:nvSpPr>
          <p:cNvPr id="1108667851" name="Shape 2"/>
          <p:cNvSpPr/>
          <p:nvPr/>
        </p:nvSpPr>
        <p:spPr bwMode="auto">
          <a:xfrm>
            <a:off x="1705356" y="2697480"/>
            <a:ext cx="8778240" cy="0"/>
          </a:xfrm>
          <a:prstGeom prst="line">
            <a:avLst/>
          </a:prstGeom>
          <a:noFill/>
          <a:ln w="25400">
            <a:solidFill>
              <a:srgbClr val="8CA3C7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87553352" name="Shape 3"/>
          <p:cNvSpPr/>
          <p:nvPr/>
        </p:nvSpPr>
        <p:spPr bwMode="auto">
          <a:xfrm>
            <a:off x="1339596" y="2194560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983861583" name="Image 0" descr="/home/claude/keycloak-deck/icons/user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22476" y="2377440"/>
            <a:ext cx="365760" cy="365760"/>
          </a:xfrm>
          <a:prstGeom prst="rect">
            <a:avLst/>
          </a:prstGeom>
        </p:spPr>
      </p:pic>
      <p:sp>
        <p:nvSpPr>
          <p:cNvPr id="233002950" name="Shape 4"/>
          <p:cNvSpPr/>
          <p:nvPr/>
        </p:nvSpPr>
        <p:spPr bwMode="auto">
          <a:xfrm>
            <a:off x="1559052" y="20482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89792304" name="Text 5"/>
          <p:cNvSpPr txBox="1"/>
          <p:nvPr/>
        </p:nvSpPr>
        <p:spPr bwMode="auto">
          <a:xfrm>
            <a:off x="1559052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200"/>
          </a:p>
        </p:txBody>
      </p:sp>
      <p:sp>
        <p:nvSpPr>
          <p:cNvPr id="1161974919" name="Text 6"/>
          <p:cNvSpPr txBox="1"/>
          <p:nvPr/>
        </p:nvSpPr>
        <p:spPr bwMode="auto">
          <a:xfrm>
            <a:off x="470916" y="286893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50" b="1" dirty="0" err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Usuário</a:t>
            </a:r>
            <a:r>
              <a:rPr lang="en-US" sz="1350" b="1" dirty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b="1" dirty="0" err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tenta</a:t>
            </a:r>
            <a:r>
              <a:rPr lang="en-US" sz="1350" b="1" dirty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b="1" dirty="0" err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entrar</a:t>
            </a:r>
            <a:endParaRPr lang="en-US" sz="1350" dirty="0"/>
          </a:p>
        </p:txBody>
      </p:sp>
      <p:sp>
        <p:nvSpPr>
          <p:cNvPr id="1630721951" name="Text 7"/>
          <p:cNvSpPr txBox="1"/>
          <p:nvPr/>
        </p:nvSpPr>
        <p:spPr bwMode="auto">
          <a:xfrm>
            <a:off x="470916" y="29438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dirty="0" err="1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Acessa</a:t>
            </a:r>
            <a:r>
              <a:rPr lang="en-US" sz="1100" dirty="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uma</a:t>
            </a:r>
            <a:r>
              <a:rPr lang="en-US" sz="1100" dirty="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aplicação</a:t>
            </a:r>
            <a:r>
              <a:rPr lang="en-US" sz="1100" dirty="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qualquer</a:t>
            </a:r>
            <a:r>
              <a:rPr lang="en-US" sz="1100" dirty="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 dirty="0"/>
          </a:p>
        </p:txBody>
      </p:sp>
      <p:sp>
        <p:nvSpPr>
          <p:cNvPr id="1536863114" name="Shape 8"/>
          <p:cNvSpPr/>
          <p:nvPr/>
        </p:nvSpPr>
        <p:spPr bwMode="auto">
          <a:xfrm>
            <a:off x="4265676" y="2194560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977428487" name="Image 1" descr="/home/claude/keycloak-deck/icons/arrow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448556" y="2377440"/>
            <a:ext cx="365760" cy="365760"/>
          </a:xfrm>
          <a:prstGeom prst="rect">
            <a:avLst/>
          </a:prstGeom>
        </p:spPr>
      </p:pic>
      <p:sp>
        <p:nvSpPr>
          <p:cNvPr id="398240704" name="Shape 9"/>
          <p:cNvSpPr/>
          <p:nvPr/>
        </p:nvSpPr>
        <p:spPr bwMode="auto">
          <a:xfrm>
            <a:off x="4485132" y="20482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984138796" name="Text 10"/>
          <p:cNvSpPr txBox="1"/>
          <p:nvPr/>
        </p:nvSpPr>
        <p:spPr bwMode="auto">
          <a:xfrm>
            <a:off x="4485132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200"/>
          </a:p>
        </p:txBody>
      </p:sp>
      <p:sp>
        <p:nvSpPr>
          <p:cNvPr id="230956053" name="Text 11"/>
          <p:cNvSpPr txBox="1"/>
          <p:nvPr/>
        </p:nvSpPr>
        <p:spPr bwMode="auto">
          <a:xfrm>
            <a:off x="3396996" y="286893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App redireciona</a:t>
            </a:r>
            <a:endParaRPr lang="en-US" sz="1350"/>
          </a:p>
        </p:txBody>
      </p:sp>
      <p:sp>
        <p:nvSpPr>
          <p:cNvPr id="1594302892" name="Text 12"/>
          <p:cNvSpPr txBox="1"/>
          <p:nvPr/>
        </p:nvSpPr>
        <p:spPr bwMode="auto">
          <a:xfrm>
            <a:off x="3396996" y="29438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pt-BR" sz="110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A aplicação envia o usuário para o Keycloak.</a:t>
            </a:r>
            <a:endParaRPr lang="pt-BR" sz="1100"/>
          </a:p>
        </p:txBody>
      </p:sp>
      <p:sp>
        <p:nvSpPr>
          <p:cNvPr id="1380355952" name="Shape 13"/>
          <p:cNvSpPr/>
          <p:nvPr/>
        </p:nvSpPr>
        <p:spPr bwMode="auto">
          <a:xfrm>
            <a:off x="7191755" y="219456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194727887" name="Image 2" descr="/home/claude/keycloak-deck/icons/key_whit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374636" y="2377440"/>
            <a:ext cx="365760" cy="365760"/>
          </a:xfrm>
          <a:prstGeom prst="rect">
            <a:avLst/>
          </a:prstGeom>
        </p:spPr>
      </p:pic>
      <p:sp>
        <p:nvSpPr>
          <p:cNvPr id="481569726" name="Shape 14"/>
          <p:cNvSpPr/>
          <p:nvPr/>
        </p:nvSpPr>
        <p:spPr bwMode="auto">
          <a:xfrm>
            <a:off x="7411212" y="20482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123647863" name="Text 15"/>
          <p:cNvSpPr txBox="1"/>
          <p:nvPr/>
        </p:nvSpPr>
        <p:spPr bwMode="auto">
          <a:xfrm>
            <a:off x="7411212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200"/>
          </a:p>
        </p:txBody>
      </p:sp>
      <p:sp>
        <p:nvSpPr>
          <p:cNvPr id="1470687180" name="Text 16"/>
          <p:cNvSpPr txBox="1"/>
          <p:nvPr/>
        </p:nvSpPr>
        <p:spPr bwMode="auto">
          <a:xfrm>
            <a:off x="6323076" y="286893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Keycloak autentica</a:t>
            </a:r>
            <a:endParaRPr lang="en-US" sz="1350"/>
          </a:p>
        </p:txBody>
      </p:sp>
      <p:sp>
        <p:nvSpPr>
          <p:cNvPr id="494378466" name="Text 17"/>
          <p:cNvSpPr txBox="1"/>
          <p:nvPr/>
        </p:nvSpPr>
        <p:spPr bwMode="auto">
          <a:xfrm>
            <a:off x="6323076" y="29438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Confere as credenciais e emite um token.</a:t>
            </a:r>
            <a:endParaRPr lang="en-US" sz="1100"/>
          </a:p>
        </p:txBody>
      </p:sp>
      <p:sp>
        <p:nvSpPr>
          <p:cNvPr id="1046073785" name="Shape 18"/>
          <p:cNvSpPr/>
          <p:nvPr/>
        </p:nvSpPr>
        <p:spPr bwMode="auto">
          <a:xfrm>
            <a:off x="10117836" y="2194560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2019581418" name="Image 3" descr="/home/claude/keycloak-deck/icons/checkcircle_whit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300715" y="2377440"/>
            <a:ext cx="365760" cy="365760"/>
          </a:xfrm>
          <a:prstGeom prst="rect">
            <a:avLst/>
          </a:prstGeom>
        </p:spPr>
      </p:pic>
      <p:sp>
        <p:nvSpPr>
          <p:cNvPr id="711708398" name="Shape 19"/>
          <p:cNvSpPr/>
          <p:nvPr/>
        </p:nvSpPr>
        <p:spPr bwMode="auto">
          <a:xfrm>
            <a:off x="10337292" y="20482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88799340" name="Text 20"/>
          <p:cNvSpPr txBox="1"/>
          <p:nvPr/>
        </p:nvSpPr>
        <p:spPr bwMode="auto">
          <a:xfrm>
            <a:off x="10337292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200"/>
          </a:p>
        </p:txBody>
      </p:sp>
      <p:sp>
        <p:nvSpPr>
          <p:cNvPr id="628616732" name="Text 21"/>
          <p:cNvSpPr txBox="1"/>
          <p:nvPr/>
        </p:nvSpPr>
        <p:spPr bwMode="auto">
          <a:xfrm>
            <a:off x="9249156" y="286893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Acesso liberado</a:t>
            </a:r>
            <a:endParaRPr lang="en-US" sz="1350"/>
          </a:p>
        </p:txBody>
      </p:sp>
      <p:sp>
        <p:nvSpPr>
          <p:cNvPr id="1432909210" name="Text 22"/>
          <p:cNvSpPr txBox="1"/>
          <p:nvPr/>
        </p:nvSpPr>
        <p:spPr bwMode="auto">
          <a:xfrm>
            <a:off x="9249156" y="29438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A aplicação confia no token e libera o uso.</a:t>
            </a:r>
            <a:endParaRPr lang="en-US" sz="1100"/>
          </a:p>
        </p:txBody>
      </p:sp>
      <p:sp>
        <p:nvSpPr>
          <p:cNvPr id="240975868" name="Shape 23"/>
          <p:cNvSpPr/>
          <p:nvPr/>
        </p:nvSpPr>
        <p:spPr bwMode="auto">
          <a:xfrm>
            <a:off x="1463040" y="5074920"/>
            <a:ext cx="9262872" cy="9601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661865018" name="Text 24"/>
          <p:cNvSpPr txBox="1"/>
          <p:nvPr/>
        </p:nvSpPr>
        <p:spPr bwMode="auto">
          <a:xfrm>
            <a:off x="1828800" y="5074920"/>
            <a:ext cx="8531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pt-BR" sz="1300" i="1" dirty="0">
                <a:solidFill>
                  <a:srgbClr val="3D5A80"/>
                </a:solidFill>
                <a:latin typeface="Calibri"/>
                <a:ea typeface="Calibri"/>
                <a:cs typeface="Calibri"/>
              </a:rPr>
              <a:t>A aplicação nunca vê a senha do usuário: só aprende a confiar em um “crachá” emitido por outro lugar.</a:t>
            </a:r>
            <a:endParaRPr lang="pt-BR" sz="1300" dirty="0"/>
          </a:p>
        </p:txBody>
      </p:sp>
      <p:sp>
        <p:nvSpPr>
          <p:cNvPr id="561136496" name="Text 25"/>
          <p:cNvSpPr txBox="1"/>
          <p:nvPr/>
        </p:nvSpPr>
        <p:spPr bwMode="auto"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Keycloak · Conteúdo extra · Sistemas de Informação</a:t>
            </a:r>
            <a:endParaRPr lang="en-US" sz="900"/>
          </a:p>
        </p:txBody>
      </p:sp>
      <p:sp>
        <p:nvSpPr>
          <p:cNvPr id="1775892239" name="Text 26"/>
          <p:cNvSpPr txBox="1"/>
          <p:nvPr/>
        </p:nvSpPr>
        <p:spPr bwMode="auto"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487056" name="Text 0"/>
          <p:cNvSpPr txBox="1"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MICROSSERVIÇOS</a:t>
            </a:r>
            <a:endParaRPr lang="en-US" sz="1200"/>
          </a:p>
        </p:txBody>
      </p:sp>
      <p:sp>
        <p:nvSpPr>
          <p:cNvPr id="1635741349" name="Text 1"/>
          <p:cNvSpPr txBox="1"/>
          <p:nvPr/>
        </p:nvSpPr>
        <p:spPr bwMode="auto"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Microsserviços multiplicam o problema</a:t>
            </a:r>
            <a:endParaRPr lang="en-US" sz="3000"/>
          </a:p>
        </p:txBody>
      </p:sp>
      <p:sp>
        <p:nvSpPr>
          <p:cNvPr id="527108970" name="Shape 2"/>
          <p:cNvSpPr/>
          <p:nvPr/>
        </p:nvSpPr>
        <p:spPr bwMode="auto">
          <a:xfrm flipH="1" flipV="1">
            <a:off x="2853896" y="3251606"/>
            <a:ext cx="1306624" cy="543154"/>
          </a:xfrm>
          <a:prstGeom prst="line">
            <a:avLst/>
          </a:prstGeom>
          <a:noFill/>
          <a:ln w="15875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222230796" name="Shape 3"/>
          <p:cNvSpPr/>
          <p:nvPr/>
        </p:nvSpPr>
        <p:spPr bwMode="auto">
          <a:xfrm flipH="1" flipV="1">
            <a:off x="3898527" y="2724956"/>
            <a:ext cx="261993" cy="1069804"/>
          </a:xfrm>
          <a:prstGeom prst="line">
            <a:avLst/>
          </a:prstGeom>
          <a:noFill/>
          <a:ln w="15875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96599038" name="Shape 4"/>
          <p:cNvSpPr/>
          <p:nvPr/>
        </p:nvSpPr>
        <p:spPr bwMode="auto">
          <a:xfrm flipV="1">
            <a:off x="4160519" y="2962600"/>
            <a:ext cx="969812" cy="832160"/>
          </a:xfrm>
          <a:prstGeom prst="line">
            <a:avLst/>
          </a:prstGeom>
          <a:noFill/>
          <a:ln w="15875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544387080" name="Shape 5"/>
          <p:cNvSpPr/>
          <p:nvPr/>
        </p:nvSpPr>
        <p:spPr bwMode="auto">
          <a:xfrm>
            <a:off x="4160519" y="3794760"/>
            <a:ext cx="1417770" cy="371539"/>
          </a:xfrm>
          <a:prstGeom prst="line">
            <a:avLst/>
          </a:prstGeom>
          <a:noFill/>
          <a:ln w="15875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89221520" name="Shape 6"/>
          <p:cNvSpPr/>
          <p:nvPr/>
        </p:nvSpPr>
        <p:spPr bwMode="auto">
          <a:xfrm>
            <a:off x="4160519" y="3794760"/>
            <a:ext cx="516026" cy="1020795"/>
          </a:xfrm>
          <a:prstGeom prst="line">
            <a:avLst/>
          </a:prstGeom>
          <a:noFill/>
          <a:ln w="15875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96000474" name="Shape 7"/>
          <p:cNvSpPr/>
          <p:nvPr/>
        </p:nvSpPr>
        <p:spPr bwMode="auto">
          <a:xfrm flipH="1">
            <a:off x="3190708" y="3794760"/>
            <a:ext cx="969812" cy="832160"/>
          </a:xfrm>
          <a:prstGeom prst="line">
            <a:avLst/>
          </a:prstGeom>
          <a:noFill/>
          <a:ln w="15875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9541664" name="Shape 8"/>
          <p:cNvSpPr/>
          <p:nvPr/>
        </p:nvSpPr>
        <p:spPr bwMode="auto">
          <a:xfrm>
            <a:off x="2579576" y="2977286"/>
            <a:ext cx="548640" cy="548640"/>
          </a:xfrm>
          <a:prstGeom prst="ellipse">
            <a:avLst/>
          </a:prstGeom>
          <a:solidFill>
            <a:srgbClr val="13172C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977971061" name="Image 0" descr="/home/claude/keycloak-deck/icons/boxes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03020" y="3100730"/>
            <a:ext cx="301752" cy="301752"/>
          </a:xfrm>
          <a:prstGeom prst="rect">
            <a:avLst/>
          </a:prstGeom>
        </p:spPr>
      </p:pic>
      <p:sp>
        <p:nvSpPr>
          <p:cNvPr id="261050385" name="Text 9"/>
          <p:cNvSpPr txBox="1"/>
          <p:nvPr/>
        </p:nvSpPr>
        <p:spPr bwMode="auto">
          <a:xfrm>
            <a:off x="2213816" y="356250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Pedidos</a:t>
            </a:r>
            <a:endParaRPr lang="en-US" sz="1050"/>
          </a:p>
        </p:txBody>
      </p:sp>
      <p:sp>
        <p:nvSpPr>
          <p:cNvPr id="2129520008" name="Shape 10"/>
          <p:cNvSpPr/>
          <p:nvPr/>
        </p:nvSpPr>
        <p:spPr bwMode="auto">
          <a:xfrm>
            <a:off x="3624207" y="2450636"/>
            <a:ext cx="548640" cy="548640"/>
          </a:xfrm>
          <a:prstGeom prst="ellipse">
            <a:avLst/>
          </a:prstGeom>
          <a:solidFill>
            <a:srgbClr val="13172C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637233575" name="Image 1" descr="/home/claude/keycloak-deck/icons/boxes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47651" y="2574079"/>
            <a:ext cx="301752" cy="301752"/>
          </a:xfrm>
          <a:prstGeom prst="rect">
            <a:avLst/>
          </a:prstGeom>
        </p:spPr>
      </p:pic>
      <p:sp>
        <p:nvSpPr>
          <p:cNvPr id="872697465" name="Text 11"/>
          <p:cNvSpPr txBox="1"/>
          <p:nvPr/>
        </p:nvSpPr>
        <p:spPr bwMode="auto">
          <a:xfrm>
            <a:off x="3258447" y="30358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Pagamento</a:t>
            </a:r>
            <a:endParaRPr lang="en-US" sz="1050"/>
          </a:p>
        </p:txBody>
      </p:sp>
      <p:sp>
        <p:nvSpPr>
          <p:cNvPr id="1075846484" name="Shape 12"/>
          <p:cNvSpPr/>
          <p:nvPr/>
        </p:nvSpPr>
        <p:spPr bwMode="auto">
          <a:xfrm>
            <a:off x="4856012" y="2688280"/>
            <a:ext cx="548640" cy="548640"/>
          </a:xfrm>
          <a:prstGeom prst="ellipse">
            <a:avLst/>
          </a:prstGeom>
          <a:solidFill>
            <a:srgbClr val="13172C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611555728" name="Image 2" descr="/home/claude/keycloak-deck/icons/boxes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79456" y="2811724"/>
            <a:ext cx="301752" cy="301752"/>
          </a:xfrm>
          <a:prstGeom prst="rect">
            <a:avLst/>
          </a:prstGeom>
        </p:spPr>
      </p:pic>
      <p:sp>
        <p:nvSpPr>
          <p:cNvPr id="395171495" name="Text 13"/>
          <p:cNvSpPr txBox="1"/>
          <p:nvPr/>
        </p:nvSpPr>
        <p:spPr bwMode="auto">
          <a:xfrm>
            <a:off x="4490252" y="32734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Notificação</a:t>
            </a:r>
            <a:endParaRPr lang="en-US" sz="1050"/>
          </a:p>
        </p:txBody>
      </p:sp>
      <p:sp>
        <p:nvSpPr>
          <p:cNvPr id="289826299" name="Shape 14"/>
          <p:cNvSpPr/>
          <p:nvPr/>
        </p:nvSpPr>
        <p:spPr bwMode="auto">
          <a:xfrm>
            <a:off x="5303971" y="3891979"/>
            <a:ext cx="548640" cy="548640"/>
          </a:xfrm>
          <a:prstGeom prst="ellipse">
            <a:avLst/>
          </a:prstGeom>
          <a:solidFill>
            <a:srgbClr val="13172C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09032935" name="Image 3" descr="/home/claude/keycloak-deck/icons/boxes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27415" y="4015423"/>
            <a:ext cx="301752" cy="301752"/>
          </a:xfrm>
          <a:prstGeom prst="rect">
            <a:avLst/>
          </a:prstGeom>
        </p:spPr>
      </p:pic>
      <p:sp>
        <p:nvSpPr>
          <p:cNvPr id="1368304966" name="Text 15"/>
          <p:cNvSpPr txBox="1"/>
          <p:nvPr/>
        </p:nvSpPr>
        <p:spPr bwMode="auto">
          <a:xfrm>
            <a:off x="4938211" y="4477195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Catálogo</a:t>
            </a:r>
            <a:endParaRPr lang="en-US" sz="1050"/>
          </a:p>
        </p:txBody>
      </p:sp>
      <p:sp>
        <p:nvSpPr>
          <p:cNvPr id="272873310" name="Shape 16"/>
          <p:cNvSpPr/>
          <p:nvPr/>
        </p:nvSpPr>
        <p:spPr bwMode="auto">
          <a:xfrm>
            <a:off x="4402226" y="4541235"/>
            <a:ext cx="548640" cy="548640"/>
          </a:xfrm>
          <a:prstGeom prst="ellipse">
            <a:avLst/>
          </a:prstGeom>
          <a:solidFill>
            <a:srgbClr val="13172C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257147783" name="Image 4" descr="/home/claude/keycloak-deck/icons/boxes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5670" y="4664679"/>
            <a:ext cx="301752" cy="301752"/>
          </a:xfrm>
          <a:prstGeom prst="rect">
            <a:avLst/>
          </a:prstGeom>
        </p:spPr>
      </p:pic>
      <p:sp>
        <p:nvSpPr>
          <p:cNvPr id="499532090" name="Text 17"/>
          <p:cNvSpPr txBox="1"/>
          <p:nvPr/>
        </p:nvSpPr>
        <p:spPr bwMode="auto">
          <a:xfrm>
            <a:off x="4036466" y="5126451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Estoque</a:t>
            </a:r>
            <a:endParaRPr lang="en-US" sz="1050"/>
          </a:p>
        </p:txBody>
      </p:sp>
      <p:sp>
        <p:nvSpPr>
          <p:cNvPr id="223358269" name="Shape 18"/>
          <p:cNvSpPr/>
          <p:nvPr/>
        </p:nvSpPr>
        <p:spPr bwMode="auto">
          <a:xfrm>
            <a:off x="2916388" y="4352600"/>
            <a:ext cx="548640" cy="548640"/>
          </a:xfrm>
          <a:prstGeom prst="ellipse">
            <a:avLst/>
          </a:prstGeom>
          <a:solidFill>
            <a:srgbClr val="13172C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482060131" name="Image 5" descr="/home/claude/keycloak-deck/icons/boxes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39832" y="4476044"/>
            <a:ext cx="301752" cy="301752"/>
          </a:xfrm>
          <a:prstGeom prst="rect">
            <a:avLst/>
          </a:prstGeom>
        </p:spPr>
      </p:pic>
      <p:sp>
        <p:nvSpPr>
          <p:cNvPr id="789377362" name="Text 19"/>
          <p:cNvSpPr txBox="1"/>
          <p:nvPr/>
        </p:nvSpPr>
        <p:spPr bwMode="auto">
          <a:xfrm>
            <a:off x="2550628" y="4937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Usuários</a:t>
            </a:r>
            <a:endParaRPr lang="en-US" sz="1050"/>
          </a:p>
        </p:txBody>
      </p:sp>
      <p:sp>
        <p:nvSpPr>
          <p:cNvPr id="1573824713" name="Shape 20"/>
          <p:cNvSpPr/>
          <p:nvPr/>
        </p:nvSpPr>
        <p:spPr bwMode="auto">
          <a:xfrm>
            <a:off x="3749040" y="338328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427795201" name="Image 6" descr="/home/claude/keycloak-deck/icons/key_navy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954780" y="3589019"/>
            <a:ext cx="411480" cy="411480"/>
          </a:xfrm>
          <a:prstGeom prst="rect">
            <a:avLst/>
          </a:prstGeom>
        </p:spPr>
      </p:pic>
      <p:sp>
        <p:nvSpPr>
          <p:cNvPr id="982132349" name="Text 21"/>
          <p:cNvSpPr txBox="1"/>
          <p:nvPr/>
        </p:nvSpPr>
        <p:spPr bwMode="auto">
          <a:xfrm>
            <a:off x="3337560" y="42702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Keycloak</a:t>
            </a:r>
            <a:endParaRPr lang="en-US" sz="1150"/>
          </a:p>
        </p:txBody>
      </p:sp>
      <p:sp>
        <p:nvSpPr>
          <p:cNvPr id="1486452490" name="Text 22"/>
          <p:cNvSpPr txBox="1"/>
          <p:nvPr/>
        </p:nvSpPr>
        <p:spPr bwMode="auto">
          <a:xfrm>
            <a:off x="7040880" y="27889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1500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Dezenas de serviços pequenos: cada um precisa saber “quem está falando comigo”.</a:t>
            </a:r>
            <a:endParaRPr lang="pt-BR" sz="1500" noProof="0" dirty="0"/>
          </a:p>
        </p:txBody>
      </p:sp>
      <p:sp>
        <p:nvSpPr>
          <p:cNvPr id="1186325989" name="Text 23"/>
          <p:cNvSpPr txBox="1"/>
          <p:nvPr/>
        </p:nvSpPr>
        <p:spPr bwMode="auto">
          <a:xfrm>
            <a:off x="7040880" y="37947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1250" noProof="0" dirty="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Sem identidade centralizada, cada serviço reimplementaria login sozinho, e ainda precisaria confiar nos outros. É o mesmo problema do início, em escala muito maior.</a:t>
            </a:r>
            <a:endParaRPr lang="pt-BR" sz="1250" noProof="0" dirty="0"/>
          </a:p>
        </p:txBody>
      </p:sp>
      <p:sp>
        <p:nvSpPr>
          <p:cNvPr id="94778253" name="Text 24"/>
          <p:cNvSpPr txBox="1"/>
          <p:nvPr/>
        </p:nvSpPr>
        <p:spPr bwMode="auto"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90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Keycloak · Conteúdo extra · Sistemas de Informação</a:t>
            </a:r>
            <a:endParaRPr lang="en-US" sz="900"/>
          </a:p>
        </p:txBody>
      </p:sp>
      <p:sp>
        <p:nvSpPr>
          <p:cNvPr id="987331282" name="Text 25"/>
          <p:cNvSpPr txBox="1"/>
          <p:nvPr/>
        </p:nvSpPr>
        <p:spPr bwMode="auto"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7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969776" name="Text 0"/>
          <p:cNvSpPr txBox="1"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MICROSSERVIÇOS</a:t>
            </a:r>
            <a:endParaRPr lang="en-US" sz="1200"/>
          </a:p>
        </p:txBody>
      </p:sp>
      <p:sp>
        <p:nvSpPr>
          <p:cNvPr id="30253680" name="Text 1"/>
          <p:cNvSpPr txBox="1"/>
          <p:nvPr/>
        </p:nvSpPr>
        <p:spPr bwMode="auto"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Por que o Keycloak encaixa bem aqui</a:t>
            </a:r>
            <a:endParaRPr lang="en-US" sz="3200"/>
          </a:p>
        </p:txBody>
      </p:sp>
      <p:sp>
        <p:nvSpPr>
          <p:cNvPr id="450677796" name="Shape 2"/>
          <p:cNvSpPr/>
          <p:nvPr/>
        </p:nvSpPr>
        <p:spPr bwMode="auto">
          <a:xfrm>
            <a:off x="685800" y="1691640"/>
            <a:ext cx="640080" cy="64008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2043395201" name="Image 0" descr="/home/claude/keycloak-deck/icons/zap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6618" y="1832458"/>
            <a:ext cx="358445" cy="358445"/>
          </a:xfrm>
          <a:prstGeom prst="rect">
            <a:avLst/>
          </a:prstGeom>
        </p:spPr>
      </p:pic>
      <p:sp>
        <p:nvSpPr>
          <p:cNvPr id="474935377" name="Text 3"/>
          <p:cNvSpPr txBox="1"/>
          <p:nvPr/>
        </p:nvSpPr>
        <p:spPr bwMode="auto">
          <a:xfrm>
            <a:off x="1531620" y="19207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Token autocontido</a:t>
            </a:r>
            <a:endParaRPr lang="en-US" sz="1500"/>
          </a:p>
        </p:txBody>
      </p:sp>
      <p:sp>
        <p:nvSpPr>
          <p:cNvPr id="1217659009" name="Text 4"/>
          <p:cNvSpPr txBox="1"/>
          <p:nvPr/>
        </p:nvSpPr>
        <p:spPr bwMode="auto">
          <a:xfrm>
            <a:off x="5760720" y="1947671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Cada serviço valida sozinho — sem perguntar ao Keycloak a cada requisição.</a:t>
            </a:r>
            <a:endParaRPr lang="en-US" sz="1250"/>
          </a:p>
        </p:txBody>
      </p:sp>
      <p:sp>
        <p:nvSpPr>
          <p:cNvPr id="985023292" name="Shape 5"/>
          <p:cNvSpPr/>
          <p:nvPr/>
        </p:nvSpPr>
        <p:spPr bwMode="auto">
          <a:xfrm>
            <a:off x="685800" y="2560320"/>
            <a:ext cx="10835640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020848772" name="Shape 6"/>
          <p:cNvSpPr/>
          <p:nvPr/>
        </p:nvSpPr>
        <p:spPr bwMode="auto">
          <a:xfrm>
            <a:off x="685800" y="2743200"/>
            <a:ext cx="640080" cy="64008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282740968" name="Image 1" descr="/home/claude/keycloak-deck/icons/trending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26618" y="2884018"/>
            <a:ext cx="358445" cy="358445"/>
          </a:xfrm>
          <a:prstGeom prst="rect">
            <a:avLst/>
          </a:prstGeom>
        </p:spPr>
      </p:pic>
      <p:sp>
        <p:nvSpPr>
          <p:cNvPr id="1990662107" name="Text 7"/>
          <p:cNvSpPr txBox="1"/>
          <p:nvPr/>
        </p:nvSpPr>
        <p:spPr bwMode="auto">
          <a:xfrm>
            <a:off x="1554480" y="29535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Escalabilidade horizontal</a:t>
            </a:r>
            <a:endParaRPr lang="en-US" sz="1500"/>
          </a:p>
        </p:txBody>
      </p:sp>
      <p:sp>
        <p:nvSpPr>
          <p:cNvPr id="306849086" name="Text 8"/>
          <p:cNvSpPr txBox="1"/>
          <p:nvPr/>
        </p:nvSpPr>
        <p:spPr bwMode="auto">
          <a:xfrm>
            <a:off x="5760720" y="2953512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Sem sessão compartilhada em banco: escalar de 2 para 200 serviços não muda nada.</a:t>
            </a:r>
            <a:endParaRPr lang="en-US" sz="1250"/>
          </a:p>
        </p:txBody>
      </p:sp>
      <p:sp>
        <p:nvSpPr>
          <p:cNvPr id="1024513723" name="Shape 9"/>
          <p:cNvSpPr/>
          <p:nvPr/>
        </p:nvSpPr>
        <p:spPr bwMode="auto">
          <a:xfrm>
            <a:off x="685800" y="3611880"/>
            <a:ext cx="10835640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89580114" name="Shape 10"/>
          <p:cNvSpPr/>
          <p:nvPr/>
        </p:nvSpPr>
        <p:spPr bwMode="auto">
          <a:xfrm>
            <a:off x="685800" y="3794760"/>
            <a:ext cx="640080" cy="64008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572264595" name="Image 2" descr="/home/claude/keycloak-deck/icons/target_whit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26618" y="3935578"/>
            <a:ext cx="358445" cy="358445"/>
          </a:xfrm>
          <a:prstGeom prst="rect">
            <a:avLst/>
          </a:prstGeom>
        </p:spPr>
      </p:pic>
      <p:sp>
        <p:nvSpPr>
          <p:cNvPr id="1113848003" name="Text 11"/>
          <p:cNvSpPr txBox="1"/>
          <p:nvPr/>
        </p:nvSpPr>
        <p:spPr bwMode="auto">
          <a:xfrm>
            <a:off x="1554480" y="40050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Um único ponto de confiança</a:t>
            </a:r>
            <a:endParaRPr lang="en-US" sz="1500"/>
          </a:p>
        </p:txBody>
      </p:sp>
      <p:sp>
        <p:nvSpPr>
          <p:cNvPr id="1084231921" name="Text 12"/>
          <p:cNvSpPr txBox="1"/>
          <p:nvPr/>
        </p:nvSpPr>
        <p:spPr bwMode="auto">
          <a:xfrm>
            <a:off x="5760720" y="4005072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Revogar acesso ou mudar uma permissão tem efeito em todos os serviços de uma vez.</a:t>
            </a:r>
            <a:endParaRPr lang="en-US" sz="1250"/>
          </a:p>
        </p:txBody>
      </p:sp>
      <p:sp>
        <p:nvSpPr>
          <p:cNvPr id="1858605762" name="Shape 13"/>
          <p:cNvSpPr/>
          <p:nvPr/>
        </p:nvSpPr>
        <p:spPr bwMode="auto">
          <a:xfrm>
            <a:off x="685800" y="4663440"/>
            <a:ext cx="10835640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52709266" name="Shape 14"/>
          <p:cNvSpPr/>
          <p:nvPr/>
        </p:nvSpPr>
        <p:spPr bwMode="auto">
          <a:xfrm>
            <a:off x="685800" y="4846320"/>
            <a:ext cx="640080" cy="64008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803182622" name="Image 3" descr="/home/claude/keycloak-deck/icons/puzzle_whit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26618" y="4987138"/>
            <a:ext cx="358445" cy="358445"/>
          </a:xfrm>
          <a:prstGeom prst="rect">
            <a:avLst/>
          </a:prstGeom>
        </p:spPr>
      </p:pic>
      <p:sp>
        <p:nvSpPr>
          <p:cNvPr id="1772168270" name="Text 15"/>
          <p:cNvSpPr txBox="1"/>
          <p:nvPr/>
        </p:nvSpPr>
        <p:spPr bwMode="auto">
          <a:xfrm>
            <a:off x="1554480" y="5031231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Interoperabilidade</a:t>
            </a:r>
            <a:endParaRPr lang="en-US" sz="1500"/>
          </a:p>
        </p:txBody>
      </p:sp>
      <p:sp>
        <p:nvSpPr>
          <p:cNvPr id="624082062" name="Text 16"/>
          <p:cNvSpPr txBox="1"/>
          <p:nvPr/>
        </p:nvSpPr>
        <p:spPr bwMode="auto">
          <a:xfrm>
            <a:off x="5760720" y="5031231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Mesmo protocolo para qualquer linguagem — Java, Python, o que for.</a:t>
            </a:r>
            <a:endParaRPr lang="en-US" sz="1250"/>
          </a:p>
        </p:txBody>
      </p:sp>
      <p:sp>
        <p:nvSpPr>
          <p:cNvPr id="774711006" name="Text 17"/>
          <p:cNvSpPr txBox="1"/>
          <p:nvPr/>
        </p:nvSpPr>
        <p:spPr bwMode="auto"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Keycloak · Conteúdo extra · Sistemas de Informação</a:t>
            </a:r>
            <a:endParaRPr lang="en-US" sz="900"/>
          </a:p>
        </p:txBody>
      </p:sp>
      <p:sp>
        <p:nvSpPr>
          <p:cNvPr id="874323132" name="Text 18"/>
          <p:cNvSpPr txBox="1"/>
          <p:nvPr/>
        </p:nvSpPr>
        <p:spPr bwMode="auto"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8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599357" name="Text 0"/>
          <p:cNvSpPr txBox="1"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MONOLITOS</a:t>
            </a:r>
            <a:endParaRPr lang="en-US" sz="1200"/>
          </a:p>
        </p:txBody>
      </p:sp>
      <p:sp>
        <p:nvSpPr>
          <p:cNvPr id="396105780" name="Text 1"/>
          <p:cNvSpPr txBox="1"/>
          <p:nvPr/>
        </p:nvSpPr>
        <p:spPr bwMode="auto"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E em um monolito? Também faz sentido</a:t>
            </a:r>
            <a:endParaRPr lang="en-US" sz="3200"/>
          </a:p>
        </p:txBody>
      </p:sp>
      <p:sp>
        <p:nvSpPr>
          <p:cNvPr id="1440593205" name="Shape 2"/>
          <p:cNvSpPr/>
          <p:nvPr/>
        </p:nvSpPr>
        <p:spPr bwMode="auto">
          <a:xfrm>
            <a:off x="905256" y="178308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83450598" name="Shape 3"/>
          <p:cNvSpPr/>
          <p:nvPr/>
        </p:nvSpPr>
        <p:spPr bwMode="auto">
          <a:xfrm>
            <a:off x="1179576" y="2057400"/>
            <a:ext cx="548640" cy="54864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304591049" name="Image 0" descr="/home/claude/keycloak-deck/icons/building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00277" y="2178101"/>
            <a:ext cx="307238" cy="307238"/>
          </a:xfrm>
          <a:prstGeom prst="rect">
            <a:avLst/>
          </a:prstGeom>
        </p:spPr>
      </p:pic>
      <p:sp>
        <p:nvSpPr>
          <p:cNvPr id="1762758787" name="Text 4"/>
          <p:cNvSpPr txBox="1"/>
          <p:nvPr/>
        </p:nvSpPr>
        <p:spPr bwMode="auto">
          <a:xfrm>
            <a:off x="1865376" y="2057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Monolito tradicional</a:t>
            </a:r>
            <a:endParaRPr lang="en-US" sz="1600"/>
          </a:p>
        </p:txBody>
      </p:sp>
      <p:sp>
        <p:nvSpPr>
          <p:cNvPr id="2147016582" name="Shape 5"/>
          <p:cNvSpPr/>
          <p:nvPr/>
        </p:nvSpPr>
        <p:spPr bwMode="auto">
          <a:xfrm>
            <a:off x="1197864" y="2926080"/>
            <a:ext cx="274320" cy="274320"/>
          </a:xfrm>
          <a:prstGeom prst="ellipse">
            <a:avLst/>
          </a:prstGeom>
          <a:solidFill>
            <a:srgbClr val="9AA3B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76010306" name="Image 1" descr="/home/claude/keycloak-deck/icons/x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52728" y="2980944"/>
            <a:ext cx="164592" cy="164592"/>
          </a:xfrm>
          <a:prstGeom prst="rect">
            <a:avLst/>
          </a:prstGeom>
        </p:spPr>
      </p:pic>
      <p:sp>
        <p:nvSpPr>
          <p:cNvPr id="1142254303" name="Text 6"/>
          <p:cNvSpPr txBox="1"/>
          <p:nvPr/>
        </p:nvSpPr>
        <p:spPr bwMode="auto">
          <a:xfrm>
            <a:off x="1636776" y="2983484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Autenticação misturada ao código de negócio.</a:t>
            </a:r>
            <a:endParaRPr lang="en-US" sz="1250"/>
          </a:p>
        </p:txBody>
      </p:sp>
      <p:sp>
        <p:nvSpPr>
          <p:cNvPr id="409757411" name="Shape 7"/>
          <p:cNvSpPr/>
          <p:nvPr/>
        </p:nvSpPr>
        <p:spPr bwMode="auto">
          <a:xfrm>
            <a:off x="1197864" y="3685032"/>
            <a:ext cx="274320" cy="274320"/>
          </a:xfrm>
          <a:prstGeom prst="ellipse">
            <a:avLst/>
          </a:prstGeom>
          <a:solidFill>
            <a:srgbClr val="9AA3B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689186159" name="Image 2" descr="/home/claude/keycloak-deck/icons/x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52728" y="3739896"/>
            <a:ext cx="164592" cy="164592"/>
          </a:xfrm>
          <a:prstGeom prst="rect">
            <a:avLst/>
          </a:prstGeom>
        </p:spPr>
      </p:pic>
      <p:sp>
        <p:nvSpPr>
          <p:cNvPr id="236089479" name="Text 8"/>
          <p:cNvSpPr txBox="1"/>
          <p:nvPr/>
        </p:nvSpPr>
        <p:spPr bwMode="auto">
          <a:xfrm>
            <a:off x="1636776" y="3742436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Senha e sessão vivem no mesmo banco da aplicação.</a:t>
            </a:r>
            <a:endParaRPr lang="en-US" sz="1250"/>
          </a:p>
        </p:txBody>
      </p:sp>
      <p:sp>
        <p:nvSpPr>
          <p:cNvPr id="598756191" name="Shape 9"/>
          <p:cNvSpPr/>
          <p:nvPr/>
        </p:nvSpPr>
        <p:spPr bwMode="auto">
          <a:xfrm>
            <a:off x="1197864" y="4443984"/>
            <a:ext cx="274320" cy="274320"/>
          </a:xfrm>
          <a:prstGeom prst="ellipse">
            <a:avLst/>
          </a:prstGeom>
          <a:solidFill>
            <a:srgbClr val="9AA3B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2101517652" name="Image 3" descr="/home/claude/keycloak-deck/icons/x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52728" y="4498848"/>
            <a:ext cx="164592" cy="164592"/>
          </a:xfrm>
          <a:prstGeom prst="rect">
            <a:avLst/>
          </a:prstGeom>
        </p:spPr>
      </p:pic>
      <p:sp>
        <p:nvSpPr>
          <p:cNvPr id="293318141" name="Text 10"/>
          <p:cNvSpPr txBox="1"/>
          <p:nvPr/>
        </p:nvSpPr>
        <p:spPr bwMode="auto">
          <a:xfrm>
            <a:off x="1636776" y="4501388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MFA e SSO exigiriam desenvolvimento próprio, do zero.</a:t>
            </a:r>
            <a:endParaRPr lang="en-US" sz="1250"/>
          </a:p>
        </p:txBody>
      </p:sp>
      <p:sp>
        <p:nvSpPr>
          <p:cNvPr id="939049599" name="Shape 11"/>
          <p:cNvSpPr/>
          <p:nvPr/>
        </p:nvSpPr>
        <p:spPr bwMode="auto">
          <a:xfrm>
            <a:off x="1197864" y="5202936"/>
            <a:ext cx="274320" cy="274320"/>
          </a:xfrm>
          <a:prstGeom prst="ellipse">
            <a:avLst/>
          </a:prstGeom>
          <a:solidFill>
            <a:srgbClr val="9AA3B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429763606" name="Image 4" descr="/home/claude/keycloak-deck/icons/x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52728" y="5257800"/>
            <a:ext cx="164592" cy="164592"/>
          </a:xfrm>
          <a:prstGeom prst="rect">
            <a:avLst/>
          </a:prstGeom>
        </p:spPr>
      </p:pic>
      <p:sp>
        <p:nvSpPr>
          <p:cNvPr id="1167675487" name="Text 12"/>
          <p:cNvSpPr txBox="1"/>
          <p:nvPr/>
        </p:nvSpPr>
        <p:spPr bwMode="auto">
          <a:xfrm>
            <a:off x="1636776" y="5260340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Crescer para múltiplos sistemas significa repetir tudo de novo.</a:t>
            </a:r>
            <a:endParaRPr lang="en-US" sz="1250"/>
          </a:p>
        </p:txBody>
      </p:sp>
      <p:sp>
        <p:nvSpPr>
          <p:cNvPr id="2063304412" name="Shape 13"/>
          <p:cNvSpPr/>
          <p:nvPr/>
        </p:nvSpPr>
        <p:spPr bwMode="auto">
          <a:xfrm>
            <a:off x="6254496" y="178308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25185081" name="Shape 14"/>
          <p:cNvSpPr/>
          <p:nvPr/>
        </p:nvSpPr>
        <p:spPr bwMode="auto">
          <a:xfrm>
            <a:off x="6528816" y="20574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410027515" name="Image 5" descr="/home/claude/keycloak-deck/icons/key_navy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649517" y="2178101"/>
            <a:ext cx="307238" cy="307238"/>
          </a:xfrm>
          <a:prstGeom prst="rect">
            <a:avLst/>
          </a:prstGeom>
        </p:spPr>
      </p:pic>
      <p:sp>
        <p:nvSpPr>
          <p:cNvPr id="1611486072" name="Text 15"/>
          <p:cNvSpPr txBox="1"/>
          <p:nvPr/>
        </p:nvSpPr>
        <p:spPr bwMode="auto">
          <a:xfrm>
            <a:off x="7214616" y="2057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Monolito + Keycloak</a:t>
            </a:r>
            <a:endParaRPr lang="en-US" sz="1600"/>
          </a:p>
        </p:txBody>
      </p:sp>
      <p:sp>
        <p:nvSpPr>
          <p:cNvPr id="1326294180" name="Shape 16"/>
          <p:cNvSpPr/>
          <p:nvPr/>
        </p:nvSpPr>
        <p:spPr bwMode="auto">
          <a:xfrm>
            <a:off x="6547104" y="2926080"/>
            <a:ext cx="274320" cy="2743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71962445" name="Image 6" descr="/home/claude/keycloak-deck/icons/check_navy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601968" y="2980944"/>
            <a:ext cx="164592" cy="164592"/>
          </a:xfrm>
          <a:prstGeom prst="rect">
            <a:avLst/>
          </a:prstGeom>
        </p:spPr>
      </p:pic>
      <p:sp>
        <p:nvSpPr>
          <p:cNvPr id="1584827619" name="Text 17"/>
          <p:cNvSpPr txBox="1"/>
          <p:nvPr/>
        </p:nvSpPr>
        <p:spPr bwMode="auto">
          <a:xfrm>
            <a:off x="6989064" y="2949702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Autenticação isolada em uma camada própria, fora do negócio.</a:t>
            </a:r>
            <a:endParaRPr lang="en-US" sz="1250"/>
          </a:p>
        </p:txBody>
      </p:sp>
      <p:sp>
        <p:nvSpPr>
          <p:cNvPr id="1832587259" name="Shape 18"/>
          <p:cNvSpPr/>
          <p:nvPr/>
        </p:nvSpPr>
        <p:spPr bwMode="auto">
          <a:xfrm>
            <a:off x="6547104" y="3685032"/>
            <a:ext cx="274320" cy="2743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802625894" name="Image 7" descr="/home/claude/keycloak-deck/icons/check_navy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601968" y="3739896"/>
            <a:ext cx="164592" cy="164592"/>
          </a:xfrm>
          <a:prstGeom prst="rect">
            <a:avLst/>
          </a:prstGeom>
        </p:spPr>
      </p:pic>
      <p:sp>
        <p:nvSpPr>
          <p:cNvPr id="1083442298" name="Text 19"/>
          <p:cNvSpPr txBox="1"/>
          <p:nvPr/>
        </p:nvSpPr>
        <p:spPr bwMode="auto">
          <a:xfrm>
            <a:off x="6989064" y="3708654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Login e permissões passam a ser responsabilidade do Keycloak.</a:t>
            </a:r>
            <a:endParaRPr lang="en-US" sz="1250"/>
          </a:p>
        </p:txBody>
      </p:sp>
      <p:sp>
        <p:nvSpPr>
          <p:cNvPr id="139181094" name="Shape 20"/>
          <p:cNvSpPr/>
          <p:nvPr/>
        </p:nvSpPr>
        <p:spPr bwMode="auto">
          <a:xfrm>
            <a:off x="6547104" y="4443984"/>
            <a:ext cx="274320" cy="2743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54656013" name="Image 8" descr="/home/claude/keycloak-deck/icons/check_navy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601968" y="4498848"/>
            <a:ext cx="164592" cy="164592"/>
          </a:xfrm>
          <a:prstGeom prst="rect">
            <a:avLst/>
          </a:prstGeom>
        </p:spPr>
      </p:pic>
      <p:sp>
        <p:nvSpPr>
          <p:cNvPr id="2014019508" name="Text 21"/>
          <p:cNvSpPr txBox="1"/>
          <p:nvPr/>
        </p:nvSpPr>
        <p:spPr bwMode="auto">
          <a:xfrm>
            <a:off x="6989064" y="4467606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MFA e SSO chegam prontos, sem desenvolvimento adicional.</a:t>
            </a:r>
            <a:endParaRPr lang="en-US" sz="1250"/>
          </a:p>
        </p:txBody>
      </p:sp>
      <p:sp>
        <p:nvSpPr>
          <p:cNvPr id="44012367" name="Shape 22"/>
          <p:cNvSpPr/>
          <p:nvPr/>
        </p:nvSpPr>
        <p:spPr bwMode="auto">
          <a:xfrm>
            <a:off x="6547104" y="5202936"/>
            <a:ext cx="274320" cy="2743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497459544" name="Image 9" descr="/home/claude/keycloak-deck/icons/check_navy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601968" y="5257800"/>
            <a:ext cx="164592" cy="164592"/>
          </a:xfrm>
          <a:prstGeom prst="rect">
            <a:avLst/>
          </a:prstGeom>
        </p:spPr>
      </p:pic>
      <p:sp>
        <p:nvSpPr>
          <p:cNvPr id="30398429" name="Text 23"/>
          <p:cNvSpPr txBox="1"/>
          <p:nvPr/>
        </p:nvSpPr>
        <p:spPr bwMode="auto">
          <a:xfrm>
            <a:off x="6989064" y="5226558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Caminho aberto para crescer, sem reescrever a base depois.</a:t>
            </a:r>
            <a:endParaRPr lang="en-US" sz="1250"/>
          </a:p>
        </p:txBody>
      </p:sp>
      <p:sp>
        <p:nvSpPr>
          <p:cNvPr id="1489681811" name="Text 24"/>
          <p:cNvSpPr txBox="1"/>
          <p:nvPr/>
        </p:nvSpPr>
        <p:spPr bwMode="auto"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Keycloak · Conteúdo extra · Sistemas de Informação</a:t>
            </a:r>
            <a:endParaRPr lang="en-US" sz="900"/>
          </a:p>
        </p:txBody>
      </p:sp>
      <p:sp>
        <p:nvSpPr>
          <p:cNvPr id="773359155" name="Text 25"/>
          <p:cNvSpPr txBox="1"/>
          <p:nvPr/>
        </p:nvSpPr>
        <p:spPr bwMode="auto"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960407" name="Text 0"/>
          <p:cNvSpPr txBox="1"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ADOÇÃO</a:t>
            </a:r>
            <a:endParaRPr lang="en-US" sz="1200"/>
          </a:p>
        </p:txBody>
      </p:sp>
      <p:sp>
        <p:nvSpPr>
          <p:cNvPr id="1748871963" name="Text 1"/>
          <p:cNvSpPr txBox="1"/>
          <p:nvPr/>
        </p:nvSpPr>
        <p:spPr bwMode="auto"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Como essa adoção costuma acontecer</a:t>
            </a:r>
            <a:endParaRPr lang="en-US" sz="3200"/>
          </a:p>
        </p:txBody>
      </p:sp>
      <p:sp>
        <p:nvSpPr>
          <p:cNvPr id="627784798" name="Shape 2"/>
          <p:cNvSpPr/>
          <p:nvPr/>
        </p:nvSpPr>
        <p:spPr bwMode="auto">
          <a:xfrm>
            <a:off x="1188720" y="2240280"/>
            <a:ext cx="0" cy="3236976"/>
          </a:xfrm>
          <a:prstGeom prst="line">
            <a:avLst/>
          </a:prstGeom>
          <a:noFill/>
          <a:ln w="31750">
            <a:solidFill>
              <a:srgbClr val="DCE1EE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730629417" name="Shape 3"/>
          <p:cNvSpPr/>
          <p:nvPr/>
        </p:nvSpPr>
        <p:spPr bwMode="auto">
          <a:xfrm>
            <a:off x="822960" y="1874520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58139396" name="Image 0" descr="/home/claude/keycloak-deck/icons/map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698165820" name="Text 4"/>
          <p:cNvSpPr txBox="1"/>
          <p:nvPr/>
        </p:nvSpPr>
        <p:spPr bwMode="auto">
          <a:xfrm>
            <a:off x="1811020" y="1975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Mapear o login atual</a:t>
            </a:r>
            <a:endParaRPr lang="en-US" sz="1500"/>
          </a:p>
        </p:txBody>
      </p:sp>
      <p:sp>
        <p:nvSpPr>
          <p:cNvPr id="1757250419" name="Text 5"/>
          <p:cNvSpPr txBox="1"/>
          <p:nvPr/>
        </p:nvSpPr>
        <p:spPr bwMode="auto">
          <a:xfrm>
            <a:off x="1811020" y="21214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Quantos usuários, quais regras, onde estão os dados hoje.</a:t>
            </a:r>
            <a:endParaRPr lang="en-US" sz="1200"/>
          </a:p>
        </p:txBody>
      </p:sp>
      <p:sp>
        <p:nvSpPr>
          <p:cNvPr id="1391268838" name="Shape 6"/>
          <p:cNvSpPr/>
          <p:nvPr/>
        </p:nvSpPr>
        <p:spPr bwMode="auto">
          <a:xfrm>
            <a:off x="822960" y="2953512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800968573" name="Image 1" descr="/home/claude/keycloak-deck/icons/boxes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5840" y="3136392"/>
            <a:ext cx="365760" cy="365760"/>
          </a:xfrm>
          <a:prstGeom prst="rect">
            <a:avLst/>
          </a:prstGeom>
        </p:spPr>
      </p:pic>
      <p:sp>
        <p:nvSpPr>
          <p:cNvPr id="637471824" name="Text 7"/>
          <p:cNvSpPr txBox="1"/>
          <p:nvPr/>
        </p:nvSpPr>
        <p:spPr bwMode="auto">
          <a:xfrm>
            <a:off x="1811020" y="3054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Migrar usuários e papéis</a:t>
            </a:r>
            <a:endParaRPr lang="en-US" sz="1500"/>
          </a:p>
        </p:txBody>
      </p:sp>
      <p:sp>
        <p:nvSpPr>
          <p:cNvPr id="31855337" name="Text 8"/>
          <p:cNvSpPr txBox="1"/>
          <p:nvPr/>
        </p:nvSpPr>
        <p:spPr bwMode="auto">
          <a:xfrm>
            <a:off x="1811020" y="3200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Levar essa base para dentro do Keycloak.</a:t>
            </a:r>
            <a:endParaRPr lang="en-US" sz="1200"/>
          </a:p>
        </p:txBody>
      </p:sp>
      <p:sp>
        <p:nvSpPr>
          <p:cNvPr id="1745584053" name="Shape 9"/>
          <p:cNvSpPr/>
          <p:nvPr/>
        </p:nvSpPr>
        <p:spPr bwMode="auto">
          <a:xfrm>
            <a:off x="822960" y="4032504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96542219" name="Image 2" descr="/home/claude/keycloak-deck/icons/key_whit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05840" y="4215384"/>
            <a:ext cx="365760" cy="365760"/>
          </a:xfrm>
          <a:prstGeom prst="rect">
            <a:avLst/>
          </a:prstGeom>
        </p:spPr>
      </p:pic>
      <p:sp>
        <p:nvSpPr>
          <p:cNvPr id="474153012" name="Text 10"/>
          <p:cNvSpPr txBox="1"/>
          <p:nvPr/>
        </p:nvSpPr>
        <p:spPr bwMode="auto">
          <a:xfrm>
            <a:off x="1811020" y="4133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Trocar por um protocolo aberto</a:t>
            </a:r>
            <a:endParaRPr lang="en-US" sz="1500"/>
          </a:p>
        </p:txBody>
      </p:sp>
      <p:sp>
        <p:nvSpPr>
          <p:cNvPr id="6464839" name="Text 11"/>
          <p:cNvSpPr txBox="1"/>
          <p:nvPr/>
        </p:nvSpPr>
        <p:spPr bwMode="auto">
          <a:xfrm>
            <a:off x="1811020" y="42793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Sai a lógica caseira, entra o padrão (OIDC).</a:t>
            </a:r>
            <a:endParaRPr lang="en-US" sz="1200"/>
          </a:p>
        </p:txBody>
      </p:sp>
      <p:sp>
        <p:nvSpPr>
          <p:cNvPr id="1297996172" name="Shape 12"/>
          <p:cNvSpPr/>
          <p:nvPr/>
        </p:nvSpPr>
        <p:spPr bwMode="auto">
          <a:xfrm>
            <a:off x="822960" y="5111496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115481695" name="Image 3" descr="/home/claude/keycloak-deck/icons/trending_whit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05840" y="5294376"/>
            <a:ext cx="365760" cy="365760"/>
          </a:xfrm>
          <a:prstGeom prst="rect">
            <a:avLst/>
          </a:prstGeom>
        </p:spPr>
      </p:pic>
      <p:sp>
        <p:nvSpPr>
          <p:cNvPr id="1637051379" name="Text 13"/>
          <p:cNvSpPr txBox="1"/>
          <p:nvPr/>
        </p:nvSpPr>
        <p:spPr bwMode="auto">
          <a:xfrm>
            <a:off x="1811020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Preparar o terreno</a:t>
            </a:r>
            <a:endParaRPr lang="en-US" sz="1500"/>
          </a:p>
        </p:txBody>
      </p:sp>
      <p:sp>
        <p:nvSpPr>
          <p:cNvPr id="2268580" name="Text 14"/>
          <p:cNvSpPr txBox="1"/>
          <p:nvPr/>
        </p:nvSpPr>
        <p:spPr bwMode="auto">
          <a:xfrm>
            <a:off x="1811020" y="5358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Base pronta para, no futuro, virar microsserviços.</a:t>
            </a:r>
            <a:endParaRPr lang="en-US" sz="1200"/>
          </a:p>
        </p:txBody>
      </p:sp>
      <p:sp>
        <p:nvSpPr>
          <p:cNvPr id="969977207" name="Shape 15"/>
          <p:cNvSpPr/>
          <p:nvPr/>
        </p:nvSpPr>
        <p:spPr bwMode="auto">
          <a:xfrm>
            <a:off x="6537960" y="1874520"/>
            <a:ext cx="5029200" cy="3977640"/>
          </a:xfrm>
          <a:prstGeom prst="roundRect">
            <a:avLst>
              <a:gd name="adj" fmla="val 1839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000774044" name="Image 4" descr="/home/claude/keycloak-deck/icons/fingerprint_amber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903720" y="2194560"/>
            <a:ext cx="640080" cy="640080"/>
          </a:xfrm>
          <a:prstGeom prst="rect">
            <a:avLst/>
          </a:prstGeom>
        </p:spPr>
      </p:pic>
      <p:sp>
        <p:nvSpPr>
          <p:cNvPr id="1296537523" name="Text 16"/>
          <p:cNvSpPr txBox="1"/>
          <p:nvPr/>
        </p:nvSpPr>
        <p:spPr bwMode="auto">
          <a:xfrm>
            <a:off x="6903720" y="2926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Identidade não é “big bang”</a:t>
            </a:r>
            <a:endParaRPr lang="en-US" sz="1600"/>
          </a:p>
        </p:txBody>
      </p:sp>
      <p:sp>
        <p:nvSpPr>
          <p:cNvPr id="861847550" name="Text 17"/>
          <p:cNvSpPr txBox="1"/>
          <p:nvPr/>
        </p:nvSpPr>
        <p:spPr bwMode="auto">
          <a:xfrm>
            <a:off x="6903720" y="33832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1250">
                <a:solidFill>
                  <a:srgbClr val="3D5A80"/>
                </a:solidFill>
                <a:latin typeface="Calibri"/>
                <a:ea typeface="Calibri"/>
                <a:cs typeface="Calibri"/>
              </a:rPr>
              <a:t>A migração acontece em paralelo ao sistema em produção: usuários e telas de login trocam de lugar aos poucos, sem parar o negócio.</a:t>
            </a:r>
            <a:endParaRPr lang="pt-BR" sz="1250"/>
          </a:p>
        </p:txBody>
      </p:sp>
      <p:sp>
        <p:nvSpPr>
          <p:cNvPr id="23951595" name="Shape 18"/>
          <p:cNvSpPr/>
          <p:nvPr/>
        </p:nvSpPr>
        <p:spPr bwMode="auto">
          <a:xfrm>
            <a:off x="6903720" y="4526280"/>
            <a:ext cx="4297680" cy="0"/>
          </a:xfrm>
          <a:prstGeom prst="line">
            <a:avLst/>
          </a:prstGeom>
          <a:noFill/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26950751" name="Text 19"/>
          <p:cNvSpPr txBox="1"/>
          <p:nvPr/>
        </p:nvSpPr>
        <p:spPr bwMode="auto">
          <a:xfrm>
            <a:off x="6903720" y="47091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“A parte mais difícil de uma futura quebra em microsserviços — identidade — já fica resolvida desde o início.”</a:t>
            </a:r>
            <a:endParaRPr lang="en-US" sz="1250"/>
          </a:p>
        </p:txBody>
      </p:sp>
      <p:sp>
        <p:nvSpPr>
          <p:cNvPr id="738753158" name="Text 20"/>
          <p:cNvSpPr txBox="1"/>
          <p:nvPr/>
        </p:nvSpPr>
        <p:spPr bwMode="auto"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Keycloak · Conteúdo extra · Sistemas de Informação</a:t>
            </a:r>
            <a:endParaRPr lang="en-US" sz="900"/>
          </a:p>
        </p:txBody>
      </p:sp>
      <p:sp>
        <p:nvSpPr>
          <p:cNvPr id="1040118935" name="Text 21"/>
          <p:cNvSpPr txBox="1"/>
          <p:nvPr/>
        </p:nvSpPr>
        <p:spPr bwMode="auto"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142663" name="Text 0"/>
          <p:cNvSpPr txBox="1"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UMA VISÃO HONESTA</a:t>
            </a:r>
            <a:endParaRPr lang="en-US" sz="1200"/>
          </a:p>
        </p:txBody>
      </p:sp>
      <p:sp>
        <p:nvSpPr>
          <p:cNvPr id="1306107024" name="Text 1"/>
          <p:cNvSpPr txBox="1"/>
          <p:nvPr/>
        </p:nvSpPr>
        <p:spPr bwMode="auto"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Vale sempre a pena?</a:t>
            </a:r>
            <a:endParaRPr lang="en-US" sz="3200"/>
          </a:p>
        </p:txBody>
      </p:sp>
      <p:sp>
        <p:nvSpPr>
          <p:cNvPr id="1994797077" name="Shape 2"/>
          <p:cNvSpPr/>
          <p:nvPr/>
        </p:nvSpPr>
        <p:spPr bwMode="auto">
          <a:xfrm>
            <a:off x="792937" y="182753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423811717" name="Shape 3"/>
          <p:cNvSpPr/>
          <p:nvPr/>
        </p:nvSpPr>
        <p:spPr bwMode="auto">
          <a:xfrm>
            <a:off x="1179576" y="205740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062312302" name="Image 0" descr="/home/claude/keycloak-deck/icons/check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00277" y="2178101"/>
            <a:ext cx="307238" cy="307238"/>
          </a:xfrm>
          <a:prstGeom prst="rect">
            <a:avLst/>
          </a:prstGeom>
        </p:spPr>
      </p:pic>
      <p:sp>
        <p:nvSpPr>
          <p:cNvPr id="344941572" name="Text 4"/>
          <p:cNvSpPr txBox="1"/>
          <p:nvPr/>
        </p:nvSpPr>
        <p:spPr bwMode="auto">
          <a:xfrm>
            <a:off x="1865376" y="2057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Faz sentido quando</a:t>
            </a:r>
            <a:endParaRPr lang="en-US" sz="1600"/>
          </a:p>
        </p:txBody>
      </p:sp>
      <p:sp>
        <p:nvSpPr>
          <p:cNvPr id="392343446" name="Shape 5"/>
          <p:cNvSpPr/>
          <p:nvPr/>
        </p:nvSpPr>
        <p:spPr bwMode="auto">
          <a:xfrm>
            <a:off x="1197864" y="2971800"/>
            <a:ext cx="274320" cy="2743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83638662" name="Image 1" descr="/home/claude/keycloak-deck/icons/check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52728" y="3026664"/>
            <a:ext cx="164592" cy="164592"/>
          </a:xfrm>
          <a:prstGeom prst="rect">
            <a:avLst/>
          </a:prstGeom>
        </p:spPr>
      </p:pic>
      <p:sp>
        <p:nvSpPr>
          <p:cNvPr id="27734808" name="Text 6"/>
          <p:cNvSpPr txBox="1"/>
          <p:nvPr/>
        </p:nvSpPr>
        <p:spPr bwMode="auto">
          <a:xfrm>
            <a:off x="1588465" y="3016250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Várias aplicações compartilham a mesma base de usuários.</a:t>
            </a:r>
            <a:endParaRPr lang="en-US" sz="1250"/>
          </a:p>
        </p:txBody>
      </p:sp>
      <p:sp>
        <p:nvSpPr>
          <p:cNvPr id="338372355" name="Shape 7"/>
          <p:cNvSpPr/>
          <p:nvPr/>
        </p:nvSpPr>
        <p:spPr bwMode="auto">
          <a:xfrm>
            <a:off x="1197864" y="3886200"/>
            <a:ext cx="274320" cy="2743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737707695" name="Image 2" descr="/home/claude/keycloak-deck/icons/check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52728" y="3941064"/>
            <a:ext cx="164592" cy="164592"/>
          </a:xfrm>
          <a:prstGeom prst="rect">
            <a:avLst/>
          </a:prstGeom>
        </p:spPr>
      </p:pic>
      <p:sp>
        <p:nvSpPr>
          <p:cNvPr id="677726467" name="Text 8"/>
          <p:cNvSpPr txBox="1"/>
          <p:nvPr/>
        </p:nvSpPr>
        <p:spPr bwMode="auto">
          <a:xfrm>
            <a:off x="1588465" y="3930650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Existe exigência de auditoria ou conformidade regulatória.</a:t>
            </a:r>
            <a:endParaRPr lang="en-US" sz="1250"/>
          </a:p>
        </p:txBody>
      </p:sp>
      <p:sp>
        <p:nvSpPr>
          <p:cNvPr id="432325917" name="Shape 9"/>
          <p:cNvSpPr/>
          <p:nvPr/>
        </p:nvSpPr>
        <p:spPr bwMode="auto">
          <a:xfrm>
            <a:off x="1197864" y="4800600"/>
            <a:ext cx="274320" cy="2743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36554680" name="Image 3" descr="/home/claude/keycloak-deck/icons/check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52728" y="4855464"/>
            <a:ext cx="164592" cy="164592"/>
          </a:xfrm>
          <a:prstGeom prst="rect">
            <a:avLst/>
          </a:prstGeom>
        </p:spPr>
      </p:pic>
      <p:sp>
        <p:nvSpPr>
          <p:cNvPr id="1348203801" name="Text 10"/>
          <p:cNvSpPr txBox="1"/>
          <p:nvPr/>
        </p:nvSpPr>
        <p:spPr bwMode="auto">
          <a:xfrm>
            <a:off x="1588465" y="4845050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A equipe tem capacidade de operar mais uma peça de infraestrutura.</a:t>
            </a:r>
            <a:endParaRPr lang="en-US" sz="1250"/>
          </a:p>
        </p:txBody>
      </p:sp>
      <p:sp>
        <p:nvSpPr>
          <p:cNvPr id="966775717" name="Shape 11"/>
          <p:cNvSpPr/>
          <p:nvPr/>
        </p:nvSpPr>
        <p:spPr bwMode="auto">
          <a:xfrm>
            <a:off x="6254496" y="178308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424595305" name="Shape 12"/>
          <p:cNvSpPr/>
          <p:nvPr/>
        </p:nvSpPr>
        <p:spPr bwMode="auto">
          <a:xfrm>
            <a:off x="6528816" y="20574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127149292" name="Image 4" descr="/home/claude/keycloak-deck/icons/alert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49517" y="2178101"/>
            <a:ext cx="307238" cy="307238"/>
          </a:xfrm>
          <a:prstGeom prst="rect">
            <a:avLst/>
          </a:prstGeom>
        </p:spPr>
      </p:pic>
      <p:sp>
        <p:nvSpPr>
          <p:cNvPr id="102874383" name="Text 13"/>
          <p:cNvSpPr txBox="1"/>
          <p:nvPr/>
        </p:nvSpPr>
        <p:spPr bwMode="auto">
          <a:xfrm>
            <a:off x="7214616" y="2057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Pense duas vezes quando</a:t>
            </a:r>
            <a:endParaRPr lang="en-US" sz="1600"/>
          </a:p>
        </p:txBody>
      </p:sp>
      <p:sp>
        <p:nvSpPr>
          <p:cNvPr id="1728186288" name="Shape 14"/>
          <p:cNvSpPr/>
          <p:nvPr/>
        </p:nvSpPr>
        <p:spPr bwMode="auto">
          <a:xfrm>
            <a:off x="6547104" y="2971800"/>
            <a:ext cx="274320" cy="274320"/>
          </a:xfrm>
          <a:prstGeom prst="ellipse">
            <a:avLst/>
          </a:prstGeom>
          <a:solidFill>
            <a:srgbClr val="9AA3B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2988865" name="Image 5" descr="/home/claude/keycloak-deck/icons/x_whit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601968" y="3026664"/>
            <a:ext cx="164592" cy="164592"/>
          </a:xfrm>
          <a:prstGeom prst="rect">
            <a:avLst/>
          </a:prstGeom>
        </p:spPr>
      </p:pic>
      <p:sp>
        <p:nvSpPr>
          <p:cNvPr id="41069327" name="Text 15"/>
          <p:cNvSpPr txBox="1"/>
          <p:nvPr/>
        </p:nvSpPr>
        <p:spPr bwMode="auto">
          <a:xfrm>
            <a:off x="6935216" y="2924810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O projeto é pequeno, um único sistema, sem previsão de crescer.</a:t>
            </a:r>
            <a:endParaRPr lang="en-US" sz="1250"/>
          </a:p>
        </p:txBody>
      </p:sp>
      <p:sp>
        <p:nvSpPr>
          <p:cNvPr id="1063442965" name="Shape 16"/>
          <p:cNvSpPr/>
          <p:nvPr/>
        </p:nvSpPr>
        <p:spPr bwMode="auto">
          <a:xfrm>
            <a:off x="6547104" y="3886200"/>
            <a:ext cx="274320" cy="274320"/>
          </a:xfrm>
          <a:prstGeom prst="ellipse">
            <a:avLst/>
          </a:prstGeom>
          <a:solidFill>
            <a:srgbClr val="9AA3B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722774981" name="Image 6" descr="/home/claude/keycloak-deck/icons/x_whit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601968" y="3941064"/>
            <a:ext cx="164592" cy="164592"/>
          </a:xfrm>
          <a:prstGeom prst="rect">
            <a:avLst/>
          </a:prstGeom>
        </p:spPr>
      </p:pic>
      <p:sp>
        <p:nvSpPr>
          <p:cNvPr id="1819718185" name="Text 17"/>
          <p:cNvSpPr txBox="1"/>
          <p:nvPr/>
        </p:nvSpPr>
        <p:spPr bwMode="auto">
          <a:xfrm>
            <a:off x="6935216" y="3839210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A equipe já está sobrecarregada para manter mais um serviço.</a:t>
            </a:r>
            <a:endParaRPr lang="en-US" sz="1250"/>
          </a:p>
        </p:txBody>
      </p:sp>
      <p:sp>
        <p:nvSpPr>
          <p:cNvPr id="1062877754" name="Shape 18"/>
          <p:cNvSpPr/>
          <p:nvPr/>
        </p:nvSpPr>
        <p:spPr bwMode="auto">
          <a:xfrm>
            <a:off x="6547104" y="4800600"/>
            <a:ext cx="274320" cy="274320"/>
          </a:xfrm>
          <a:prstGeom prst="ellipse">
            <a:avLst/>
          </a:prstGeom>
          <a:solidFill>
            <a:srgbClr val="9AA3B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077685682" name="Image 7" descr="/home/claude/keycloak-deck/icons/x_whit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601968" y="4855464"/>
            <a:ext cx="164592" cy="164592"/>
          </a:xfrm>
          <a:prstGeom prst="rect">
            <a:avLst/>
          </a:prstGeom>
        </p:spPr>
      </p:pic>
      <p:sp>
        <p:nvSpPr>
          <p:cNvPr id="521281974" name="Text 19"/>
          <p:cNvSpPr txBox="1"/>
          <p:nvPr/>
        </p:nvSpPr>
        <p:spPr bwMode="auto">
          <a:xfrm>
            <a:off x="6935216" y="4753610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O prazo é curto demais para pagar a curva de aprendizado inicial.</a:t>
            </a:r>
            <a:endParaRPr lang="en-US" sz="1250"/>
          </a:p>
        </p:txBody>
      </p:sp>
      <p:sp>
        <p:nvSpPr>
          <p:cNvPr id="1004522580" name="Text 20"/>
          <p:cNvSpPr txBox="1"/>
          <p:nvPr/>
        </p:nvSpPr>
        <p:spPr bwMode="auto"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Keycloak · Conteúdo extra · Sistemas de Informação</a:t>
            </a:r>
            <a:endParaRPr lang="en-US" sz="900"/>
          </a:p>
        </p:txBody>
      </p:sp>
      <p:sp>
        <p:nvSpPr>
          <p:cNvPr id="55014027" name="Text 21"/>
          <p:cNvSpPr txBox="1"/>
          <p:nvPr/>
        </p:nvSpPr>
        <p:spPr bwMode="auto"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638507" name="Text 0"/>
          <p:cNvSpPr txBox="1"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SÍNTESE</a:t>
            </a:r>
            <a:endParaRPr lang="en-US" sz="1200"/>
          </a:p>
        </p:txBody>
      </p:sp>
      <p:sp>
        <p:nvSpPr>
          <p:cNvPr id="1947029412" name="Text 1"/>
          <p:cNvSpPr txBox="1"/>
          <p:nvPr/>
        </p:nvSpPr>
        <p:spPr bwMode="auto"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Pra levar dessa aula</a:t>
            </a:r>
            <a:endParaRPr lang="en-US" sz="3200"/>
          </a:p>
        </p:txBody>
      </p:sp>
      <p:sp>
        <p:nvSpPr>
          <p:cNvPr id="351686235" name="Shape 2"/>
          <p:cNvSpPr/>
          <p:nvPr/>
        </p:nvSpPr>
        <p:spPr bwMode="auto">
          <a:xfrm>
            <a:off x="694944" y="192024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74097133" name="Shape 3"/>
          <p:cNvSpPr/>
          <p:nvPr/>
        </p:nvSpPr>
        <p:spPr bwMode="auto">
          <a:xfrm>
            <a:off x="2043684" y="2286000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030596945" name="Image 0" descr="/home/claude/keycloak-deck/icons/users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208276" y="2450592"/>
            <a:ext cx="402336" cy="402336"/>
          </a:xfrm>
          <a:prstGeom prst="rect">
            <a:avLst/>
          </a:prstGeom>
        </p:spPr>
      </p:pic>
      <p:sp>
        <p:nvSpPr>
          <p:cNvPr id="386611050" name="Text 4"/>
          <p:cNvSpPr txBox="1"/>
          <p:nvPr/>
        </p:nvSpPr>
        <p:spPr bwMode="auto">
          <a:xfrm>
            <a:off x="923544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1 login, N aplicações</a:t>
            </a:r>
            <a:endParaRPr lang="en-US" sz="1600"/>
          </a:p>
        </p:txBody>
      </p:sp>
      <p:sp>
        <p:nvSpPr>
          <p:cNvPr id="837163358" name="Text 5"/>
          <p:cNvSpPr txBox="1"/>
          <p:nvPr/>
        </p:nvSpPr>
        <p:spPr bwMode="auto">
          <a:xfrm>
            <a:off x="969264" y="40233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Um único ponto de entrada resolve o acesso a vários sistemas ao mesmo tempo.</a:t>
            </a:r>
            <a:endParaRPr lang="en-US" sz="1150"/>
          </a:p>
        </p:txBody>
      </p:sp>
      <p:sp>
        <p:nvSpPr>
          <p:cNvPr id="987949121" name="Shape 6"/>
          <p:cNvSpPr/>
          <p:nvPr/>
        </p:nvSpPr>
        <p:spPr bwMode="auto">
          <a:xfrm>
            <a:off x="4379976" y="192024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49602649" name="Shape 7"/>
          <p:cNvSpPr/>
          <p:nvPr/>
        </p:nvSpPr>
        <p:spPr bwMode="auto">
          <a:xfrm>
            <a:off x="5728716" y="228600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757603516" name="Image 1" descr="/home/claude/keycloak-deck/icons/puzzle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11596" y="2468880"/>
            <a:ext cx="365760" cy="365760"/>
          </a:xfrm>
          <a:prstGeom prst="rect">
            <a:avLst/>
          </a:prstGeom>
        </p:spPr>
      </p:pic>
      <p:sp>
        <p:nvSpPr>
          <p:cNvPr id="884249983" name="Text 8"/>
          <p:cNvSpPr txBox="1"/>
          <p:nvPr/>
        </p:nvSpPr>
        <p:spPr bwMode="auto">
          <a:xfrm>
            <a:off x="4608576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Identidade separada do negócio</a:t>
            </a:r>
            <a:endParaRPr lang="en-US" sz="1600"/>
          </a:p>
        </p:txBody>
      </p:sp>
      <p:sp>
        <p:nvSpPr>
          <p:cNvPr id="1466848313" name="Text 9"/>
          <p:cNvSpPr txBox="1"/>
          <p:nvPr/>
        </p:nvSpPr>
        <p:spPr bwMode="auto">
          <a:xfrm>
            <a:off x="4654296" y="40233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Não é só segurança — é uma decisão de arquitetura que facilita manutenção.</a:t>
            </a:r>
            <a:endParaRPr lang="en-US" sz="1150"/>
          </a:p>
        </p:txBody>
      </p:sp>
      <p:sp>
        <p:nvSpPr>
          <p:cNvPr id="63257196" name="Shape 10"/>
          <p:cNvSpPr/>
          <p:nvPr/>
        </p:nvSpPr>
        <p:spPr bwMode="auto">
          <a:xfrm>
            <a:off x="8065008" y="192024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EEF1F8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35962796" name="Shape 11"/>
          <p:cNvSpPr/>
          <p:nvPr/>
        </p:nvSpPr>
        <p:spPr bwMode="auto">
          <a:xfrm>
            <a:off x="9413748" y="2286000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701100325" name="Image 2" descr="/home/claude/keycloak-deck/icons/network_whit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578340" y="2450592"/>
            <a:ext cx="402336" cy="402336"/>
          </a:xfrm>
          <a:prstGeom prst="rect">
            <a:avLst/>
          </a:prstGeom>
        </p:spPr>
      </p:pic>
      <p:sp>
        <p:nvSpPr>
          <p:cNvPr id="864587561" name="Text 12"/>
          <p:cNvSpPr txBox="1"/>
          <p:nvPr/>
        </p:nvSpPr>
        <p:spPr bwMode="auto">
          <a:xfrm>
            <a:off x="8293607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Mesmo protocolo, do monolito ao microsserviço</a:t>
            </a:r>
            <a:endParaRPr lang="en-US" sz="1600"/>
          </a:p>
        </p:txBody>
      </p:sp>
      <p:sp>
        <p:nvSpPr>
          <p:cNvPr id="528010340" name="Text 13"/>
          <p:cNvSpPr txBox="1"/>
          <p:nvPr/>
        </p:nvSpPr>
        <p:spPr bwMode="auto">
          <a:xfrm>
            <a:off x="8339328" y="40233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5B6178"/>
                </a:solidFill>
                <a:latin typeface="Calibri"/>
                <a:ea typeface="Calibri"/>
                <a:cs typeface="Calibri"/>
              </a:rPr>
              <a:t>Adotar cedo não é desperdício: é investimento que se paga se o sistema crescer.</a:t>
            </a:r>
            <a:endParaRPr lang="en-US" sz="1150"/>
          </a:p>
        </p:txBody>
      </p:sp>
      <p:sp>
        <p:nvSpPr>
          <p:cNvPr id="423404728" name="Text 14"/>
          <p:cNvSpPr txBox="1"/>
          <p:nvPr/>
        </p:nvSpPr>
        <p:spPr bwMode="auto"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pt-BR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Keycloak · Conteúdo extra · Sistemas de Informação</a:t>
            </a:r>
            <a:endParaRPr lang="en-US" sz="900"/>
          </a:p>
        </p:txBody>
      </p:sp>
      <p:sp>
        <p:nvSpPr>
          <p:cNvPr id="1304364617" name="Text 15"/>
          <p:cNvSpPr txBox="1"/>
          <p:nvPr/>
        </p:nvSpPr>
        <p:spPr bwMode="auto"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6ADC2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3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551417" name="Shape 0"/>
          <p:cNvSpPr/>
          <p:nvPr/>
        </p:nvSpPr>
        <p:spPr bwMode="auto">
          <a:xfrm>
            <a:off x="8869680" y="1691640"/>
            <a:ext cx="2743200" cy="2743200"/>
          </a:xfrm>
          <a:prstGeom prst="ellipse">
            <a:avLst/>
          </a:prstGeom>
          <a:solidFill>
            <a:srgbClr val="13172C"/>
          </a:solidFill>
          <a:ln w="15875">
            <a:solidFill>
              <a:srgbClr val="3D5A8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862066832" name="Image 0" descr="/home/claude/keycloak-deck/icons/question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646920" y="2468880"/>
            <a:ext cx="1188720" cy="1188720"/>
          </a:xfrm>
          <a:prstGeom prst="rect">
            <a:avLst/>
          </a:prstGeom>
        </p:spPr>
      </p:pic>
      <p:sp>
        <p:nvSpPr>
          <p:cNvPr id="475466301" name="Text 1"/>
          <p:cNvSpPr txBox="1"/>
          <p:nvPr/>
        </p:nvSpPr>
        <p:spPr bwMode="auto">
          <a:xfrm>
            <a:off x="73152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OBRIGADO</a:t>
            </a:r>
            <a:endParaRPr lang="en-US" sz="1200"/>
          </a:p>
        </p:txBody>
      </p:sp>
      <p:sp>
        <p:nvSpPr>
          <p:cNvPr id="2117627608" name="Text 2"/>
          <p:cNvSpPr txBox="1"/>
          <p:nvPr/>
        </p:nvSpPr>
        <p:spPr bwMode="auto">
          <a:xfrm>
            <a:off x="731520" y="2697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Perguntas?</a:t>
            </a:r>
            <a:endParaRPr lang="en-US" sz="4600"/>
          </a:p>
        </p:txBody>
      </p:sp>
      <p:sp>
        <p:nvSpPr>
          <p:cNvPr id="565613193" name="Text 3"/>
          <p:cNvSpPr txBox="1"/>
          <p:nvPr/>
        </p:nvSpPr>
        <p:spPr bwMode="auto">
          <a:xfrm>
            <a:off x="731520" y="3794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8CA3C7"/>
                </a:solidFill>
                <a:latin typeface="Calibri"/>
                <a:ea typeface="Calibri"/>
                <a:cs typeface="Calibri"/>
              </a:rPr>
              <a:t>Vale explorar o Keycloak com calma — dá pra subir localmente em minutos, só com Docker, e ver esse fluxo de login na prática.</a:t>
            </a:r>
            <a:endParaRPr lang="en-US" sz="1400"/>
          </a:p>
        </p:txBody>
      </p:sp>
      <p:sp>
        <p:nvSpPr>
          <p:cNvPr id="1852788387" name="Text 4"/>
          <p:cNvSpPr txBox="1"/>
          <p:nvPr/>
        </p:nvSpPr>
        <p:spPr bwMode="auto">
          <a:xfrm>
            <a:off x="73152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keycloak.org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2415</Words>
  <Application>Microsoft Office PowerPoint</Application>
  <PresentationFormat>Widescreen</PresentationFormat>
  <Paragraphs>183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Keycloak</dc:title>
  <dc:subject/>
  <dc:creator>Artur Lins</dc:creator>
  <cp:lastModifiedBy>Artur Lins</cp:lastModifiedBy>
  <cp:revision>10</cp:revision>
  <dcterms:created xsi:type="dcterms:W3CDTF">2026-09-07T19:40:33Z</dcterms:created>
  <dcterms:modified xsi:type="dcterms:W3CDTF">2026-09-07T20:13:45Z</dcterms:modified>
</cp:coreProperties>
</file>